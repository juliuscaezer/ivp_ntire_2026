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 roundtripDataSignature="AMtx7miULMCsT1qwoMbPmc6YZ1Jq1Yc6h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6C222A-DCE0-4F32-B71E-7846A1361F19}" v="6" dt="2026-01-29T04:59:38.628"/>
    <p1510:client id="{FA9199EC-6C20-41A9-AE80-20AFDA92C56D}" v="11" dt="2026-01-29T03:55:30.9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an K" userId="f29c6af2e783bf9e" providerId="LiveId" clId="{0459DB9A-0F01-4A99-A077-6C9C9A405A2D}"/>
    <pc:docChg chg="undo custSel modSld">
      <pc:chgData name="Sharan K" userId="f29c6af2e783bf9e" providerId="LiveId" clId="{0459DB9A-0F01-4A99-A077-6C9C9A405A2D}" dt="2026-01-29T05:01:12.986" v="691" actId="14100"/>
      <pc:docMkLst>
        <pc:docMk/>
      </pc:docMkLst>
      <pc:sldChg chg="addSp delSp modSp mod modNotes">
        <pc:chgData name="Sharan K" userId="f29c6af2e783bf9e" providerId="LiveId" clId="{0459DB9A-0F01-4A99-A077-6C9C9A405A2D}" dt="2026-01-29T05:01:12.986" v="691" actId="14100"/>
        <pc:sldMkLst>
          <pc:docMk/>
          <pc:sldMk cId="0" sldId="256"/>
        </pc:sldMkLst>
        <pc:picChg chg="add mod">
          <ac:chgData name="Sharan K" userId="f29c6af2e783bf9e" providerId="LiveId" clId="{0459DB9A-0F01-4A99-A077-6C9C9A405A2D}" dt="2026-01-29T05:01:12.986" v="691" actId="14100"/>
          <ac:picMkLst>
            <pc:docMk/>
            <pc:sldMk cId="0" sldId="256"/>
            <ac:picMk id="3" creationId="{742D6F49-544B-2C9E-CF3B-95FA0740F834}"/>
          </ac:picMkLst>
        </pc:picChg>
        <pc:picChg chg="add del mod">
          <ac:chgData name="Sharan K" userId="f29c6af2e783bf9e" providerId="LiveId" clId="{0459DB9A-0F01-4A99-A077-6C9C9A405A2D}" dt="2026-01-29T04:59:26.958" v="684" actId="478"/>
          <ac:picMkLst>
            <pc:docMk/>
            <pc:sldMk cId="0" sldId="256"/>
            <ac:picMk id="1026" creationId="{2A8FC0FE-EF08-ED33-4DCF-7F7E2B5370E2}"/>
          </ac:picMkLst>
        </pc:picChg>
        <pc:picChg chg="add">
          <ac:chgData name="Sharan K" userId="f29c6af2e783bf9e" providerId="LiveId" clId="{0459DB9A-0F01-4A99-A077-6C9C9A405A2D}" dt="2026-01-29T04:59:35.003" v="685"/>
          <ac:picMkLst>
            <pc:docMk/>
            <pc:sldMk cId="0" sldId="256"/>
            <ac:picMk id="1028" creationId="{1D0F3538-3C60-460D-9594-E342C77EA0E0}"/>
          </ac:picMkLst>
        </pc:picChg>
      </pc:sldChg>
      <pc:sldChg chg="modSp mod">
        <pc:chgData name="Sharan K" userId="f29c6af2e783bf9e" providerId="LiveId" clId="{0459DB9A-0F01-4A99-A077-6C9C9A405A2D}" dt="2026-01-29T04:31:33.788" v="678" actId="1036"/>
        <pc:sldMkLst>
          <pc:docMk/>
          <pc:sldMk cId="0" sldId="257"/>
        </pc:sldMkLst>
        <pc:spChg chg="mod">
          <ac:chgData name="Sharan K" userId="f29c6af2e783bf9e" providerId="LiveId" clId="{0459DB9A-0F01-4A99-A077-6C9C9A405A2D}" dt="2026-01-29T04:31:33.788" v="678" actId="1036"/>
          <ac:spMkLst>
            <pc:docMk/>
            <pc:sldMk cId="0" sldId="257"/>
            <ac:spMk id="91" creationId="{00000000-0000-0000-0000-000000000000}"/>
          </ac:spMkLst>
        </pc:spChg>
        <pc:spChg chg="mod">
          <ac:chgData name="Sharan K" userId="f29c6af2e783bf9e" providerId="LiveId" clId="{0459DB9A-0F01-4A99-A077-6C9C9A405A2D}" dt="2026-01-29T04:31:28.910" v="676" actId="20577"/>
          <ac:spMkLst>
            <pc:docMk/>
            <pc:sldMk cId="0" sldId="257"/>
            <ac:spMk id="94" creationId="{00000000-0000-0000-0000-000000000000}"/>
          </ac:spMkLst>
        </pc:spChg>
      </pc:sldChg>
      <pc:sldChg chg="modSp mod">
        <pc:chgData name="Sharan K" userId="f29c6af2e783bf9e" providerId="LiveId" clId="{0459DB9A-0F01-4A99-A077-6C9C9A405A2D}" dt="2026-01-29T04:46:29.191" v="680" actId="20577"/>
        <pc:sldMkLst>
          <pc:docMk/>
          <pc:sldMk cId="0" sldId="258"/>
        </pc:sldMkLst>
        <pc:spChg chg="mod">
          <ac:chgData name="Sharan K" userId="f29c6af2e783bf9e" providerId="LiveId" clId="{0459DB9A-0F01-4A99-A077-6C9C9A405A2D}" dt="2026-01-29T04:46:29.191" v="680" actId="20577"/>
          <ac:spMkLst>
            <pc:docMk/>
            <pc:sldMk cId="0" sldId="258"/>
            <ac:spMk id="102" creationId="{00000000-0000-0000-0000-000000000000}"/>
          </ac:spMkLst>
        </pc:spChg>
      </pc:sldChg>
      <pc:sldChg chg="addSp delSp modSp mod">
        <pc:chgData name="Sharan K" userId="f29c6af2e783bf9e" providerId="LiveId" clId="{0459DB9A-0F01-4A99-A077-6C9C9A405A2D}" dt="2026-01-29T04:04:58.467" v="657" actId="403"/>
        <pc:sldMkLst>
          <pc:docMk/>
          <pc:sldMk cId="0" sldId="263"/>
        </pc:sldMkLst>
        <pc:spChg chg="mod">
          <ac:chgData name="Sharan K" userId="f29c6af2e783bf9e" providerId="LiveId" clId="{0459DB9A-0F01-4A99-A077-6C9C9A405A2D}" dt="2026-01-29T03:45:41.796" v="29" actId="20577"/>
          <ac:spMkLst>
            <pc:docMk/>
            <pc:sldMk cId="0" sldId="263"/>
            <ac:spMk id="146" creationId="{00000000-0000-0000-0000-000000000000}"/>
          </ac:spMkLst>
        </pc:spChg>
        <pc:spChg chg="mod">
          <ac:chgData name="Sharan K" userId="f29c6af2e783bf9e" providerId="LiveId" clId="{0459DB9A-0F01-4A99-A077-6C9C9A405A2D}" dt="2026-01-29T04:04:58.467" v="657" actId="403"/>
          <ac:spMkLst>
            <pc:docMk/>
            <pc:sldMk cId="0" sldId="263"/>
            <ac:spMk id="148" creationId="{00000000-0000-0000-0000-000000000000}"/>
          </ac:spMkLst>
        </pc:spChg>
        <pc:picChg chg="add del mod">
          <ac:chgData name="Sharan K" userId="f29c6af2e783bf9e" providerId="LiveId" clId="{0459DB9A-0F01-4A99-A077-6C9C9A405A2D}" dt="2026-01-29T03:53:41.922" v="302" actId="478"/>
          <ac:picMkLst>
            <pc:docMk/>
            <pc:sldMk cId="0" sldId="263"/>
            <ac:picMk id="1026" creationId="{6C919C81-447F-48CD-68FE-AAD2C4E90EFD}"/>
          </ac:picMkLst>
        </pc:picChg>
        <pc:picChg chg="add mod">
          <ac:chgData name="Sharan K" userId="f29c6af2e783bf9e" providerId="LiveId" clId="{0459DB9A-0F01-4A99-A077-6C9C9A405A2D}" dt="2026-01-29T03:54:59.656" v="308" actId="1076"/>
          <ac:picMkLst>
            <pc:docMk/>
            <pc:sldMk cId="0" sldId="263"/>
            <ac:picMk id="1028" creationId="{0B94BA92-6226-8091-A359-DE4FD975AD1C}"/>
          </ac:picMkLst>
        </pc:picChg>
      </pc:sldChg>
      <pc:sldChg chg="modSp mod">
        <pc:chgData name="Sharan K" userId="f29c6af2e783bf9e" providerId="LiveId" clId="{0459DB9A-0F01-4A99-A077-6C9C9A405A2D}" dt="2026-01-29T04:11:11.955" v="658" actId="20577"/>
        <pc:sldMkLst>
          <pc:docMk/>
          <pc:sldMk cId="0" sldId="264"/>
        </pc:sldMkLst>
        <pc:spChg chg="mod">
          <ac:chgData name="Sharan K" userId="f29c6af2e783bf9e" providerId="LiveId" clId="{0459DB9A-0F01-4A99-A077-6C9C9A405A2D}" dt="2026-01-29T04:11:11.955" v="658" actId="20577"/>
          <ac:spMkLst>
            <pc:docMk/>
            <pc:sldMk cId="0" sldId="264"/>
            <ac:spMk id="154" creationId="{00000000-0000-0000-0000-000000000000}"/>
          </ac:spMkLst>
        </pc:spChg>
      </pc:sldChg>
      <pc:sldChg chg="modSp mod">
        <pc:chgData name="Sharan K" userId="f29c6af2e783bf9e" providerId="LiveId" clId="{0459DB9A-0F01-4A99-A077-6C9C9A405A2D}" dt="2026-01-29T03:44:51.766" v="10" actId="20577"/>
        <pc:sldMkLst>
          <pc:docMk/>
          <pc:sldMk cId="0" sldId="265"/>
        </pc:sldMkLst>
        <pc:spChg chg="mod">
          <ac:chgData name="Sharan K" userId="f29c6af2e783bf9e" providerId="LiveId" clId="{0459DB9A-0F01-4A99-A077-6C9C9A405A2D}" dt="2026-01-29T03:44:51.766" v="10" actId="20577"/>
          <ac:spMkLst>
            <pc:docMk/>
            <pc:sldMk cId="0" sldId="265"/>
            <ac:spMk id="16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c1fe5e5e70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g3c1fe5e5e70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2"/>
          <p:cNvSpPr>
            <a:spLocks noGrp="1"/>
          </p:cNvSpPr>
          <p:nvPr>
            <p:ph type="pic" idx="2"/>
          </p:nvPr>
        </p:nvSpPr>
        <p:spPr>
          <a:xfrm>
            <a:off x="5183188" y="987425"/>
            <a:ext cx="6172200" cy="4873625"/>
          </a:xfrm>
          <a:prstGeom prst="rect">
            <a:avLst/>
          </a:prstGeom>
          <a:noFill/>
          <a:ln>
            <a:noFill/>
          </a:ln>
        </p:spPr>
      </p:sp>
      <p:sp>
        <p:nvSpPr>
          <p:cNvPr id="64" name="Google Shape;64;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
        <p:cNvGrpSpPr/>
        <p:nvPr/>
      </p:nvGrpSpPr>
      <p:grpSpPr>
        <a:xfrm>
          <a:off x="0" y="0"/>
          <a:ext cx="0" cy="0"/>
          <a:chOff x="0" y="0"/>
          <a:chExt cx="0" cy="0"/>
        </a:xfrm>
      </p:grpSpPr>
      <p:sp>
        <p:nvSpPr>
          <p:cNvPr id="84" name="Google Shape;84;p1"/>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5" name="Google Shape;85;p1"/>
          <p:cNvSpPr txBox="1">
            <a:spLocks noGrp="1"/>
          </p:cNvSpPr>
          <p:nvPr>
            <p:ph type="ctrTitle"/>
          </p:nvPr>
        </p:nvSpPr>
        <p:spPr>
          <a:xfrm>
            <a:off x="838200" y="451381"/>
            <a:ext cx="10512552" cy="406654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600"/>
              <a:buFont typeface="Calibri"/>
              <a:buNone/>
            </a:pPr>
            <a:r>
              <a:rPr lang="en-IN" sz="6600" dirty="0">
                <a:latin typeface="Calibri"/>
                <a:ea typeface="Calibri"/>
                <a:cs typeface="Calibri"/>
                <a:sym typeface="Calibri"/>
              </a:rPr>
              <a:t>Robust AI Image Generation in the Wild</a:t>
            </a:r>
            <a:endParaRPr dirty="0"/>
          </a:p>
        </p:txBody>
      </p:sp>
      <p:sp>
        <p:nvSpPr>
          <p:cNvPr id="86" name="Google Shape;86;p1"/>
          <p:cNvSpPr/>
          <p:nvPr/>
        </p:nvSpPr>
        <p:spPr>
          <a:xfrm>
            <a:off x="838200" y="4718595"/>
            <a:ext cx="5410200" cy="18288"/>
          </a:xfrm>
          <a:custGeom>
            <a:avLst/>
            <a:gdLst/>
            <a:ahLst/>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742D6F49-544B-2C9E-CF3B-95FA0740F834}"/>
              </a:ext>
            </a:extLst>
          </p:cNvPr>
          <p:cNvPicPr>
            <a:picLocks noChangeAspect="1"/>
          </p:cNvPicPr>
          <p:nvPr/>
        </p:nvPicPr>
        <p:blipFill>
          <a:blip r:embed="rId3"/>
          <a:stretch>
            <a:fillRect/>
          </a:stretch>
        </p:blipFill>
        <p:spPr>
          <a:xfrm>
            <a:off x="9409350" y="4450344"/>
            <a:ext cx="2143284" cy="21452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10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sp>
        <p:nvSpPr>
          <p:cNvPr id="91" name="Google Shape;91;p2"/>
          <p:cNvSpPr/>
          <p:nvPr/>
        </p:nvSpPr>
        <p:spPr>
          <a:xfrm>
            <a:off x="7951" y="7951"/>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2" name="Google Shape;92;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IN" sz="5400"/>
              <a:t>Evolution of Image Generation</a:t>
            </a:r>
            <a:endParaRPr/>
          </a:p>
        </p:txBody>
      </p:sp>
      <p:sp>
        <p:nvSpPr>
          <p:cNvPr id="93" name="Google Shape;93;p2"/>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 name="Google Shape;94;p2"/>
          <p:cNvSpPr txBox="1">
            <a:spLocks noGrp="1"/>
          </p:cNvSpPr>
          <p:nvPr>
            <p:ph type="body" idx="1"/>
          </p:nvPr>
        </p:nvSpPr>
        <p:spPr>
          <a:xfrm>
            <a:off x="838200" y="1929384"/>
            <a:ext cx="10515600" cy="425196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200"/>
              <a:buChar char="•"/>
            </a:pPr>
            <a:r>
              <a:rPr lang="en-IN" sz="2200" dirty="0"/>
              <a:t>1950s – 1980s: Symbolic AI &amp; Algorithmic Art </a:t>
            </a:r>
            <a:endParaRPr dirty="0"/>
          </a:p>
          <a:p>
            <a:pPr marL="685800" lvl="1" indent="-228600" algn="l" rtl="0">
              <a:lnSpc>
                <a:spcPct val="90000"/>
              </a:lnSpc>
              <a:spcBef>
                <a:spcPts val="500"/>
              </a:spcBef>
              <a:spcAft>
                <a:spcPts val="0"/>
              </a:spcAft>
              <a:buClr>
                <a:schemeClr val="dk1"/>
              </a:buClr>
              <a:buSzPts val="2200"/>
              <a:buChar char="•"/>
            </a:pPr>
            <a:r>
              <a:rPr lang="en-IN" sz="2200" dirty="0"/>
              <a:t>The Logic: Researchers used explicit human-defined rules (If-Then statements) to create 2D animations and simple patterns.</a:t>
            </a:r>
            <a:endParaRPr dirty="0"/>
          </a:p>
          <a:p>
            <a:pPr marL="685800" lvl="1" indent="-228600" algn="l" rtl="0">
              <a:lnSpc>
                <a:spcPct val="90000"/>
              </a:lnSpc>
              <a:spcBef>
                <a:spcPts val="500"/>
              </a:spcBef>
              <a:spcAft>
                <a:spcPts val="0"/>
              </a:spcAft>
              <a:buClr>
                <a:schemeClr val="dk1"/>
              </a:buClr>
              <a:buSzPts val="2200"/>
              <a:buChar char="•"/>
            </a:pPr>
            <a:r>
              <a:rPr lang="en-IN" sz="2200" dirty="0"/>
              <a:t>Key Concept: "Non-learning" AI. The machine didn't understand the image; it just followed a geometric recipe.</a:t>
            </a:r>
            <a:endParaRPr sz="2200" dirty="0"/>
          </a:p>
          <a:p>
            <a:pPr marL="228600" lvl="0" indent="-228600" algn="l" rtl="0">
              <a:lnSpc>
                <a:spcPct val="90000"/>
              </a:lnSpc>
              <a:spcBef>
                <a:spcPts val="1000"/>
              </a:spcBef>
              <a:spcAft>
                <a:spcPts val="0"/>
              </a:spcAft>
              <a:buClr>
                <a:schemeClr val="dk1"/>
              </a:buClr>
              <a:buSzPts val="2200"/>
              <a:buChar char="•"/>
            </a:pPr>
            <a:r>
              <a:rPr lang="en-IN" sz="2200" dirty="0"/>
              <a:t>1990s: Statistical Texture Synthesis </a:t>
            </a:r>
            <a:endParaRPr dirty="0"/>
          </a:p>
          <a:p>
            <a:pPr marL="685800" lvl="1" indent="-228600" algn="l" rtl="0">
              <a:lnSpc>
                <a:spcPct val="90000"/>
              </a:lnSpc>
              <a:spcBef>
                <a:spcPts val="500"/>
              </a:spcBef>
              <a:spcAft>
                <a:spcPts val="0"/>
              </a:spcAft>
              <a:buClr>
                <a:schemeClr val="dk1"/>
              </a:buClr>
              <a:buSzPts val="2200"/>
              <a:buChar char="•"/>
            </a:pPr>
            <a:r>
              <a:rPr lang="en-IN" sz="2200" dirty="0"/>
              <a:t>Used mathematical models to replicate patterns (like brick walls or grass) by </a:t>
            </a:r>
            <a:r>
              <a:rPr lang="en-IN" sz="2200" dirty="0" err="1"/>
              <a:t>analyzing</a:t>
            </a:r>
            <a:r>
              <a:rPr lang="en-IN" sz="2200" dirty="0"/>
              <a:t> the probability of pixel distributions.</a:t>
            </a:r>
            <a:endParaRPr sz="2200" dirty="0"/>
          </a:p>
          <a:p>
            <a:pPr marL="228600" lvl="0" indent="-228600" algn="l" rtl="0">
              <a:lnSpc>
                <a:spcPct val="90000"/>
              </a:lnSpc>
              <a:spcBef>
                <a:spcPts val="1000"/>
              </a:spcBef>
              <a:spcAft>
                <a:spcPts val="0"/>
              </a:spcAft>
              <a:buClr>
                <a:schemeClr val="dk1"/>
              </a:buClr>
              <a:buSzPts val="2200"/>
              <a:buChar char="•"/>
            </a:pPr>
            <a:r>
              <a:rPr lang="en-IN" sz="2200" dirty="0"/>
              <a:t>2006: The “Wake-Sleep” Philosophy</a:t>
            </a:r>
            <a:endParaRPr dirty="0"/>
          </a:p>
          <a:p>
            <a:pPr marL="685800" lvl="1" indent="-228600" algn="l" rtl="0">
              <a:lnSpc>
                <a:spcPct val="90000"/>
              </a:lnSpc>
              <a:spcBef>
                <a:spcPts val="500"/>
              </a:spcBef>
              <a:spcAft>
                <a:spcPts val="0"/>
              </a:spcAft>
              <a:buClr>
                <a:schemeClr val="dk1"/>
              </a:buClr>
              <a:buSzPts val="2200"/>
              <a:buChar char="•"/>
            </a:pPr>
            <a:r>
              <a:rPr lang="en-IN" sz="2200" dirty="0"/>
              <a:t>Geoffrey Hinton introduced the idea that to recognize shapes, a system should first learn to generate them. He proposed using "top-down" generative connections to produce reconstructions of data (Hinton, 2007).</a:t>
            </a:r>
            <a:endParaRPr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3"/>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0" name="Google Shape;100;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000"/>
              <a:buFont typeface="Calibri"/>
              <a:buNone/>
            </a:pPr>
            <a:r>
              <a:rPr lang="en-IN" sz="5000"/>
              <a:t>Evolution of Image Generation (contd.)</a:t>
            </a:r>
            <a:endParaRPr/>
          </a:p>
        </p:txBody>
      </p:sp>
      <p:sp>
        <p:nvSpPr>
          <p:cNvPr id="101" name="Google Shape;101;p3"/>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2" name="Google Shape;102;p3"/>
          <p:cNvSpPr txBox="1">
            <a:spLocks noGrp="1"/>
          </p:cNvSpPr>
          <p:nvPr>
            <p:ph type="body" idx="1"/>
          </p:nvPr>
        </p:nvSpPr>
        <p:spPr>
          <a:xfrm>
            <a:off x="838200" y="1929384"/>
            <a:ext cx="10515600" cy="425196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700"/>
              <a:buChar char="•"/>
            </a:pPr>
            <a:r>
              <a:rPr lang="en-IN" sz="1700" dirty="0"/>
              <a:t>2014: The Dual Path (GANs vs. VAEs)</a:t>
            </a:r>
            <a:endParaRPr dirty="0"/>
          </a:p>
          <a:p>
            <a:pPr marL="685800" lvl="1" indent="-228600" algn="l" rtl="0">
              <a:lnSpc>
                <a:spcPct val="90000"/>
              </a:lnSpc>
              <a:spcBef>
                <a:spcPts val="500"/>
              </a:spcBef>
              <a:spcAft>
                <a:spcPts val="0"/>
              </a:spcAft>
              <a:buClr>
                <a:schemeClr val="dk1"/>
              </a:buClr>
              <a:buSzPts val="1700"/>
              <a:buChar char="•"/>
            </a:pPr>
            <a:r>
              <a:rPr lang="en-IN" sz="1700" dirty="0"/>
              <a:t>Generative Adversarial Networks (GANs): A "Minimax" game where a Generator creates images and a Discriminator tries to spot fakes. Result: Sharp, high-fidelity images but unstable to train.</a:t>
            </a:r>
            <a:endParaRPr dirty="0"/>
          </a:p>
          <a:p>
            <a:pPr marL="685800" lvl="1" indent="-228600" algn="l" rtl="0">
              <a:lnSpc>
                <a:spcPct val="90000"/>
              </a:lnSpc>
              <a:spcBef>
                <a:spcPts val="500"/>
              </a:spcBef>
              <a:spcAft>
                <a:spcPts val="0"/>
              </a:spcAft>
              <a:buClr>
                <a:schemeClr val="dk1"/>
              </a:buClr>
              <a:buSzPts val="1700"/>
              <a:buChar char="•"/>
            </a:pPr>
            <a:r>
              <a:rPr lang="en-IN" sz="1700" dirty="0"/>
              <a:t>Variational Autoencoders (VAEs): Uses an Encoder to map images to a probabilistic "Latent Space" and a Decoder to reconstruct them. Result: Stable training and diverse outputs, but notoriously blurry.</a:t>
            </a:r>
            <a:endParaRPr dirty="0"/>
          </a:p>
          <a:p>
            <a:pPr marL="228600" lvl="0" indent="-228600" algn="l" rtl="0">
              <a:lnSpc>
                <a:spcPct val="90000"/>
              </a:lnSpc>
              <a:spcBef>
                <a:spcPts val="1000"/>
              </a:spcBef>
              <a:spcAft>
                <a:spcPts val="0"/>
              </a:spcAft>
              <a:buClr>
                <a:schemeClr val="dk1"/>
              </a:buClr>
              <a:buSzPts val="1700"/>
              <a:buChar char="•"/>
            </a:pPr>
            <a:r>
              <a:rPr lang="en-IN" sz="1700" dirty="0"/>
              <a:t>2021: The Semantic Breakthrough (DALL-E 1 &amp; CLIP)</a:t>
            </a:r>
            <a:endParaRPr dirty="0"/>
          </a:p>
          <a:p>
            <a:pPr marL="685800" lvl="1" indent="-228600" algn="l" rtl="0">
              <a:lnSpc>
                <a:spcPct val="90000"/>
              </a:lnSpc>
              <a:spcBef>
                <a:spcPts val="500"/>
              </a:spcBef>
              <a:spcAft>
                <a:spcPts val="0"/>
              </a:spcAft>
              <a:buClr>
                <a:schemeClr val="dk1"/>
              </a:buClr>
              <a:buSzPts val="1700"/>
              <a:buChar char="•"/>
            </a:pPr>
            <a:r>
              <a:rPr lang="en-IN" sz="1700" dirty="0"/>
              <a:t>OpenAI’s DALL-E (v1) combined Transformers with VAEs.</a:t>
            </a:r>
            <a:endParaRPr dirty="0"/>
          </a:p>
          <a:p>
            <a:pPr marL="685800" lvl="1" indent="-228600" algn="l" rtl="0">
              <a:lnSpc>
                <a:spcPct val="90000"/>
              </a:lnSpc>
              <a:spcBef>
                <a:spcPts val="500"/>
              </a:spcBef>
              <a:spcAft>
                <a:spcPts val="0"/>
              </a:spcAft>
              <a:buClr>
                <a:schemeClr val="dk1"/>
              </a:buClr>
              <a:buSzPts val="1700"/>
              <a:buChar char="•"/>
            </a:pPr>
            <a:r>
              <a:rPr lang="en-IN" sz="1700" dirty="0"/>
              <a:t>It proved that AI could "understand" and blend concepts (e.g., "An armchair in the shape of an avocado") rather than just mimicking textures.</a:t>
            </a:r>
            <a:endParaRPr dirty="0"/>
          </a:p>
          <a:p>
            <a:pPr marL="228600" lvl="0" indent="-228600" algn="l" rtl="0">
              <a:lnSpc>
                <a:spcPct val="90000"/>
              </a:lnSpc>
              <a:spcBef>
                <a:spcPts val="1000"/>
              </a:spcBef>
              <a:spcAft>
                <a:spcPts val="0"/>
              </a:spcAft>
              <a:buClr>
                <a:schemeClr val="dk1"/>
              </a:buClr>
              <a:buSzPts val="1700"/>
              <a:buChar char="•"/>
            </a:pPr>
            <a:r>
              <a:rPr lang="en-IN" sz="1700" dirty="0"/>
              <a:t>2022 – Present: Diffusion Models</a:t>
            </a:r>
            <a:endParaRPr dirty="0"/>
          </a:p>
          <a:p>
            <a:pPr marL="685800" lvl="1" indent="-228600" algn="l" rtl="0">
              <a:lnSpc>
                <a:spcPct val="90000"/>
              </a:lnSpc>
              <a:spcBef>
                <a:spcPts val="500"/>
              </a:spcBef>
              <a:spcAft>
                <a:spcPts val="0"/>
              </a:spcAft>
              <a:buClr>
                <a:schemeClr val="dk1"/>
              </a:buClr>
              <a:buSzPts val="1700"/>
              <a:buChar char="•"/>
            </a:pPr>
            <a:r>
              <a:rPr lang="en-IN" sz="1700" dirty="0"/>
              <a:t>The Mechanism: Models like Stable Diffusion and Midjourney work by gradually removing "Gaussian noise" from a static-filled image until a coherent picture emerges.</a:t>
            </a:r>
            <a:endParaRPr dirty="0"/>
          </a:p>
          <a:p>
            <a:pPr marL="685800" lvl="1" indent="-228600" algn="l" rtl="0">
              <a:lnSpc>
                <a:spcPct val="90000"/>
              </a:lnSpc>
              <a:spcBef>
                <a:spcPts val="500"/>
              </a:spcBef>
              <a:spcAft>
                <a:spcPts val="0"/>
              </a:spcAft>
              <a:buClr>
                <a:schemeClr val="dk1"/>
              </a:buClr>
              <a:buSzPts val="1700"/>
              <a:buChar char="•"/>
            </a:pPr>
            <a:r>
              <a:rPr lang="en-IN" sz="1700" dirty="0"/>
              <a:t>Why it won: Unlike GANs, Diffusion is highly stable to train and offers far more creative control through natural language prompting.</a:t>
            </a:r>
            <a:endParaRPr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6"/>
        <p:cNvGrpSpPr/>
        <p:nvPr/>
      </p:nvGrpSpPr>
      <p:grpSpPr>
        <a:xfrm>
          <a:off x="0" y="0"/>
          <a:ext cx="0" cy="0"/>
          <a:chOff x="0" y="0"/>
          <a:chExt cx="0" cy="0"/>
        </a:xfrm>
      </p:grpSpPr>
      <p:sp>
        <p:nvSpPr>
          <p:cNvPr id="107" name="Google Shape;107;p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8" name="Google Shape;108;p4"/>
          <p:cNvSpPr/>
          <p:nvPr/>
        </p:nvSpPr>
        <p:spPr>
          <a:xfrm>
            <a:off x="0" y="0"/>
            <a:ext cx="4959047" cy="6858000"/>
          </a:xfrm>
          <a:custGeom>
            <a:avLst/>
            <a:gdLst/>
            <a:ahLst/>
            <a:cxnLst/>
            <a:rect l="l" t="t" r="r" b="b"/>
            <a:pathLst>
              <a:path w="4959047" h="6858000" extrusionOk="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w="9525" cap="flat" cmpd="sng">
            <a:solidFill>
              <a:srgbClr val="EFEFEF"/>
            </a:solidFill>
            <a:prstDash val="solid"/>
            <a:miter lim="800000"/>
            <a:headEnd type="none" w="sm" len="sm"/>
            <a:tailEnd type="none" w="sm" len="sm"/>
          </a:ln>
          <a:effectLst>
            <a:outerShdw blurRad="50800" dist="38100" algn="l" rotWithShape="0">
              <a:srgbClr val="D8D8D8">
                <a:alpha val="2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09" name="Google Shape;109;p4"/>
          <p:cNvSpPr/>
          <p:nvPr/>
        </p:nvSpPr>
        <p:spPr>
          <a:xfrm>
            <a:off x="0" y="0"/>
            <a:ext cx="4948887" cy="6858000"/>
          </a:xfrm>
          <a:custGeom>
            <a:avLst/>
            <a:gdLst/>
            <a:ahLst/>
            <a:cxnLst/>
            <a:rect l="l" t="t" r="r" b="b"/>
            <a:pathLst>
              <a:path w="4948887" h="6858000" extrusionOk="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10" name="Google Shape;110;p4"/>
          <p:cNvSpPr txBox="1">
            <a:spLocks noGrp="1"/>
          </p:cNvSpPr>
          <p:nvPr>
            <p:ph type="title"/>
          </p:nvPr>
        </p:nvSpPr>
        <p:spPr>
          <a:xfrm>
            <a:off x="475488" y="1124712"/>
            <a:ext cx="4023360" cy="32004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800"/>
              <a:buFont typeface="Calibri"/>
              <a:buNone/>
            </a:pPr>
            <a:r>
              <a:rPr lang="en-IN" sz="4800"/>
              <a:t>Risks and Societal Impact </a:t>
            </a:r>
            <a:endParaRPr/>
          </a:p>
        </p:txBody>
      </p:sp>
      <p:sp>
        <p:nvSpPr>
          <p:cNvPr id="111" name="Google Shape;111;p4"/>
          <p:cNvSpPr/>
          <p:nvPr/>
        </p:nvSpPr>
        <p:spPr>
          <a:xfrm rot="5400000">
            <a:off x="759921" y="346791"/>
            <a:ext cx="146304" cy="7040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12" name="Google Shape;112;p4" descr="Signature Detection &amp; Verification with AI"/>
          <p:cNvPicPr preferRelativeResize="0">
            <a:picLocks noGrp="1"/>
          </p:cNvPicPr>
          <p:nvPr>
            <p:ph type="body" idx="1"/>
          </p:nvPr>
        </p:nvPicPr>
        <p:blipFill rotWithShape="1">
          <a:blip r:embed="rId3">
            <a:alphaModFix/>
          </a:blip>
          <a:srcRect/>
          <a:stretch/>
        </p:blipFill>
        <p:spPr>
          <a:xfrm>
            <a:off x="5546903" y="1265698"/>
            <a:ext cx="5989326" cy="1662038"/>
          </a:xfrm>
          <a:prstGeom prst="rect">
            <a:avLst/>
          </a:prstGeom>
          <a:noFill/>
          <a:ln>
            <a:noFill/>
          </a:ln>
        </p:spPr>
      </p:pic>
      <p:sp>
        <p:nvSpPr>
          <p:cNvPr id="113" name="Google Shape;113;p4"/>
          <p:cNvSpPr/>
          <p:nvPr/>
        </p:nvSpPr>
        <p:spPr>
          <a:xfrm>
            <a:off x="481029" y="4546920"/>
            <a:ext cx="4023360" cy="18288"/>
          </a:xfrm>
          <a:prstGeom prst="rect">
            <a:avLst/>
          </a:prstGeom>
          <a:solidFill>
            <a:srgbClr val="D5D5D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14" name="Google Shape;114;p4" descr="TIME for Kids | Fakeout | G5-6"/>
          <p:cNvPicPr preferRelativeResize="0"/>
          <p:nvPr/>
        </p:nvPicPr>
        <p:blipFill rotWithShape="1">
          <a:blip r:embed="rId4">
            <a:alphaModFix/>
          </a:blip>
          <a:srcRect/>
          <a:stretch/>
        </p:blipFill>
        <p:spPr>
          <a:xfrm>
            <a:off x="5549354" y="4043503"/>
            <a:ext cx="2871216" cy="1909358"/>
          </a:xfrm>
          <a:prstGeom prst="rect">
            <a:avLst/>
          </a:prstGeom>
          <a:noFill/>
          <a:ln>
            <a:noFill/>
          </a:ln>
        </p:spPr>
      </p:pic>
      <p:pic>
        <p:nvPicPr>
          <p:cNvPr id="115" name="Google Shape;115;p4" descr="ChatGPT can generate fake Aadhaar, PAN cards: Why it may not be a cause for  concern | Technology News - The Indian Express"/>
          <p:cNvPicPr preferRelativeResize="0"/>
          <p:nvPr/>
        </p:nvPicPr>
        <p:blipFill rotWithShape="1">
          <a:blip r:embed="rId5">
            <a:alphaModFix/>
          </a:blip>
          <a:srcRect/>
          <a:stretch/>
        </p:blipFill>
        <p:spPr>
          <a:xfrm>
            <a:off x="8665013" y="4190653"/>
            <a:ext cx="2871216" cy="161505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9"/>
        <p:cNvGrpSpPr/>
        <p:nvPr/>
      </p:nvGrpSpPr>
      <p:grpSpPr>
        <a:xfrm>
          <a:off x="0" y="0"/>
          <a:ext cx="0" cy="0"/>
          <a:chOff x="0" y="0"/>
          <a:chExt cx="0" cy="0"/>
        </a:xfrm>
      </p:grpSpPr>
      <p:sp>
        <p:nvSpPr>
          <p:cNvPr id="120" name="Google Shape;120;p5"/>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1" name="Google Shape;121;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IN" sz="5400"/>
              <a:t>Problem Statement – NTIRE 2026 </a:t>
            </a:r>
            <a:endParaRPr/>
          </a:p>
        </p:txBody>
      </p:sp>
      <p:sp>
        <p:nvSpPr>
          <p:cNvPr id="122" name="Google Shape;122;p5"/>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3" name="Google Shape;123;p5"/>
          <p:cNvSpPr txBox="1">
            <a:spLocks noGrp="1"/>
          </p:cNvSpPr>
          <p:nvPr>
            <p:ph type="body" idx="1"/>
          </p:nvPr>
        </p:nvSpPr>
        <p:spPr>
          <a:xfrm>
            <a:off x="838200" y="1929384"/>
            <a:ext cx="10515600" cy="4251960"/>
          </a:xfrm>
          <a:prstGeom prst="rect">
            <a:avLst/>
          </a:prstGeom>
          <a:noFill/>
          <a:ln>
            <a:noFill/>
          </a:ln>
        </p:spPr>
        <p:txBody>
          <a:bodyPr spcFirstLastPara="1" wrap="square" lIns="91425" tIns="45700" rIns="91425" bIns="45700" anchor="t" anchorCtr="0">
            <a:normAutofit/>
          </a:bodyPr>
          <a:lstStyle/>
          <a:p>
            <a:pPr marL="685800" lvl="1" indent="-228600" algn="l" rtl="0">
              <a:lnSpc>
                <a:spcPct val="90000"/>
              </a:lnSpc>
              <a:spcBef>
                <a:spcPts val="0"/>
              </a:spcBef>
              <a:spcAft>
                <a:spcPts val="0"/>
              </a:spcAft>
              <a:buClr>
                <a:schemeClr val="dk1"/>
              </a:buClr>
              <a:buSzPts val="2400"/>
              <a:buChar char="•"/>
            </a:pPr>
            <a:r>
              <a:rPr lang="en-IN"/>
              <a:t>Text-to-image (T2I) models have made synthetic images nearly indistinguishable from real photos in many cases, which creates serious challenges for trust, authenticity, forensics, and content safety. At the same time, real-world images are routinely transformed (cropped, resized, compressed, blurred), and detectors must remain reliable under such post-processing and distribution shifts.</a:t>
            </a:r>
            <a:endParaRPr/>
          </a:p>
          <a:p>
            <a:pPr marL="685800" lvl="1" indent="-228600" algn="l" rtl="0">
              <a:lnSpc>
                <a:spcPct val="90000"/>
              </a:lnSpc>
              <a:spcBef>
                <a:spcPts val="500"/>
              </a:spcBef>
              <a:spcAft>
                <a:spcPts val="0"/>
              </a:spcAft>
              <a:buClr>
                <a:schemeClr val="dk1"/>
              </a:buClr>
              <a:buSzPts val="2400"/>
              <a:buChar char="•"/>
            </a:pPr>
            <a:r>
              <a:rPr lang="en-IN"/>
              <a:t>In this challenge, we introduce a dataset of real and AI-generated images, with additional “in-the-wild” style transformations, to benchmark detection methods that are accurate, robust, and generalize to unseen generators.</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7"/>
        <p:cNvGrpSpPr/>
        <p:nvPr/>
      </p:nvGrpSpPr>
      <p:grpSpPr>
        <a:xfrm>
          <a:off x="0" y="0"/>
          <a:ext cx="0" cy="0"/>
          <a:chOff x="0" y="0"/>
          <a:chExt cx="0" cy="0"/>
        </a:xfrm>
      </p:grpSpPr>
      <p:sp>
        <p:nvSpPr>
          <p:cNvPr id="128" name="Google Shape;128;p6"/>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9" name="Google Shape;129;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IN" sz="5400"/>
              <a:t>Problems with AI Detection</a:t>
            </a:r>
            <a:endParaRPr/>
          </a:p>
        </p:txBody>
      </p:sp>
      <p:sp>
        <p:nvSpPr>
          <p:cNvPr id="130" name="Google Shape;130;p6"/>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1" name="Google Shape;131;p6"/>
          <p:cNvSpPr txBox="1">
            <a:spLocks noGrp="1"/>
          </p:cNvSpPr>
          <p:nvPr>
            <p:ph type="body" idx="1"/>
          </p:nvPr>
        </p:nvSpPr>
        <p:spPr>
          <a:xfrm>
            <a:off x="838200" y="1929384"/>
            <a:ext cx="10515600" cy="425196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IN" sz="2000"/>
              <a:t>Real-World Transformations</a:t>
            </a:r>
            <a:endParaRPr/>
          </a:p>
          <a:p>
            <a:pPr marL="685800" lvl="1" indent="-228600" algn="l" rtl="0">
              <a:lnSpc>
                <a:spcPct val="90000"/>
              </a:lnSpc>
              <a:spcBef>
                <a:spcPts val="500"/>
              </a:spcBef>
              <a:spcAft>
                <a:spcPts val="0"/>
              </a:spcAft>
              <a:buClr>
                <a:schemeClr val="dk1"/>
              </a:buClr>
              <a:buSzPts val="2000"/>
              <a:buChar char="•"/>
            </a:pPr>
            <a:r>
              <a:rPr lang="en-IN" sz="2000"/>
              <a:t>Compression: JPEG/WebP discard high frequency data save space. This smooths-out specific noise patterns which will be crucial in detecting the validity of an image</a:t>
            </a:r>
            <a:endParaRPr/>
          </a:p>
          <a:p>
            <a:pPr marL="685800" lvl="1" indent="-228600" algn="l" rtl="0">
              <a:lnSpc>
                <a:spcPct val="90000"/>
              </a:lnSpc>
              <a:spcBef>
                <a:spcPts val="500"/>
              </a:spcBef>
              <a:spcAft>
                <a:spcPts val="0"/>
              </a:spcAft>
              <a:buClr>
                <a:schemeClr val="dk1"/>
              </a:buClr>
              <a:buSzPts val="2000"/>
              <a:buChar char="•"/>
            </a:pPr>
            <a:r>
              <a:rPr lang="en-IN" sz="2000"/>
              <a:t>Resampling (Resizing or Cropping): Posting photos to different social media apps like Instagram or Facebook often involves changing the actual size or removing some of the photo. This will lead to loss of information that will be helpful in finding an AI generated image</a:t>
            </a:r>
            <a:endParaRPr/>
          </a:p>
          <a:p>
            <a:pPr marL="685800" lvl="1" indent="-228600" algn="l" rtl="0">
              <a:lnSpc>
                <a:spcPct val="90000"/>
              </a:lnSpc>
              <a:spcBef>
                <a:spcPts val="500"/>
              </a:spcBef>
              <a:spcAft>
                <a:spcPts val="0"/>
              </a:spcAft>
              <a:buClr>
                <a:schemeClr val="dk1"/>
              </a:buClr>
              <a:buSzPts val="2000"/>
              <a:buChar char="•"/>
            </a:pPr>
            <a:r>
              <a:rPr lang="en-IN" sz="2000"/>
              <a:t>Blurring: Taking a photo with shaky hands, capturing a moving subject, or simple autofocus failure. Since many detectors rely on sharp pixel transitions or specific edge artifacts to spot AI, a blurred AI image can easily pass as a poorly taken real photo.</a:t>
            </a:r>
            <a:endParaRPr/>
          </a:p>
          <a:p>
            <a:pPr marL="685800" lvl="1" indent="-228600" algn="l" rtl="0">
              <a:lnSpc>
                <a:spcPct val="90000"/>
              </a:lnSpc>
              <a:spcBef>
                <a:spcPts val="500"/>
              </a:spcBef>
              <a:spcAft>
                <a:spcPts val="0"/>
              </a:spcAft>
              <a:buClr>
                <a:schemeClr val="dk1"/>
              </a:buClr>
              <a:buSzPts val="2000"/>
              <a:buChar char="•"/>
            </a:pPr>
            <a:r>
              <a:rPr lang="en-IN" sz="2000"/>
              <a:t>Noise: Photos taken at night or indoors force cameras to boost sensitivity, creating "grain" or speckles. Users intentionally adding "film grain" filters (VSCO, Instagram) to make images look vintage.</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p:cNvGrpSpPr/>
        <p:nvPr/>
      </p:nvGrpSpPr>
      <p:grpSpPr>
        <a:xfrm>
          <a:off x="0" y="0"/>
          <a:ext cx="0" cy="0"/>
          <a:chOff x="0" y="0"/>
          <a:chExt cx="0" cy="0"/>
        </a:xfrm>
      </p:grpSpPr>
      <p:sp>
        <p:nvSpPr>
          <p:cNvPr id="136" name="Google Shape;136;p7"/>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7" name="Google Shape;137;p7"/>
          <p:cNvSpPr txBox="1">
            <a:spLocks noGrp="1"/>
          </p:cNvSpPr>
          <p:nvPr>
            <p:ph type="title"/>
          </p:nvPr>
        </p:nvSpPr>
        <p:spPr>
          <a:xfrm>
            <a:off x="724800" y="-14515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IN" sz="5400"/>
              <a:t>Dataset</a:t>
            </a:r>
            <a:endParaRPr/>
          </a:p>
        </p:txBody>
      </p:sp>
      <p:sp>
        <p:nvSpPr>
          <p:cNvPr id="138" name="Google Shape;138;p7"/>
          <p:cNvSpPr txBox="1">
            <a:spLocks noGrp="1"/>
          </p:cNvSpPr>
          <p:nvPr>
            <p:ph type="body" idx="1"/>
          </p:nvPr>
        </p:nvSpPr>
        <p:spPr>
          <a:xfrm>
            <a:off x="484350" y="1112950"/>
            <a:ext cx="11223300" cy="56610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1400"/>
              </a:spcBef>
              <a:spcAft>
                <a:spcPts val="0"/>
              </a:spcAft>
              <a:buClr>
                <a:schemeClr val="dk1"/>
              </a:buClr>
              <a:buSzPts val="688"/>
              <a:buFont typeface="Arial"/>
              <a:buNone/>
            </a:pPr>
            <a:r>
              <a:rPr lang="en-IN" sz="1312" b="1" u="sng">
                <a:latin typeface="Arial"/>
                <a:ea typeface="Arial"/>
                <a:cs typeface="Arial"/>
                <a:sym typeface="Arial"/>
              </a:rPr>
              <a:t>Type of Data</a:t>
            </a:r>
            <a:endParaRPr sz="1312" b="1" u="sng">
              <a:latin typeface="Arial"/>
              <a:ea typeface="Arial"/>
              <a:cs typeface="Arial"/>
              <a:sym typeface="Arial"/>
            </a:endParaRPr>
          </a:p>
          <a:p>
            <a:pPr marL="457200" lvl="0" indent="-304800" algn="l" rtl="0">
              <a:lnSpc>
                <a:spcPct val="95000"/>
              </a:lnSpc>
              <a:spcBef>
                <a:spcPts val="1200"/>
              </a:spcBef>
              <a:spcAft>
                <a:spcPts val="0"/>
              </a:spcAft>
              <a:buSzPts val="1200"/>
              <a:buChar char="●"/>
            </a:pPr>
            <a:r>
              <a:rPr lang="en-IN" sz="1200">
                <a:latin typeface="Arial"/>
                <a:ea typeface="Arial"/>
                <a:cs typeface="Arial"/>
                <a:sym typeface="Arial"/>
              </a:rPr>
              <a:t>Image classification dataset</a:t>
            </a:r>
            <a:endParaRPr sz="1200">
              <a:latin typeface="Arial"/>
              <a:ea typeface="Arial"/>
              <a:cs typeface="Arial"/>
              <a:sym typeface="Arial"/>
            </a:endParaRPr>
          </a:p>
          <a:p>
            <a:pPr marL="457200" lvl="0" indent="-304800" algn="l" rtl="0">
              <a:lnSpc>
                <a:spcPct val="95000"/>
              </a:lnSpc>
              <a:spcBef>
                <a:spcPts val="0"/>
              </a:spcBef>
              <a:spcAft>
                <a:spcPts val="0"/>
              </a:spcAft>
              <a:buSzPts val="1200"/>
              <a:buChar char="●"/>
            </a:pPr>
            <a:r>
              <a:rPr lang="en-IN" sz="1200">
                <a:latin typeface="Arial"/>
                <a:ea typeface="Arial"/>
                <a:cs typeface="Arial"/>
                <a:sym typeface="Arial"/>
              </a:rPr>
              <a:t>Natural images labeled as:</a:t>
            </a:r>
            <a:endParaRPr sz="1200">
              <a:latin typeface="Arial"/>
              <a:ea typeface="Arial"/>
              <a:cs typeface="Arial"/>
              <a:sym typeface="Arial"/>
            </a:endParaRPr>
          </a:p>
          <a:p>
            <a:pPr marL="914400" lvl="1" indent="-304800" algn="l" rtl="0">
              <a:lnSpc>
                <a:spcPct val="95000"/>
              </a:lnSpc>
              <a:spcBef>
                <a:spcPts val="0"/>
              </a:spcBef>
              <a:spcAft>
                <a:spcPts val="0"/>
              </a:spcAft>
              <a:buSzPts val="1200"/>
              <a:buChar char="○"/>
            </a:pPr>
            <a:r>
              <a:rPr lang="en-IN" sz="1200" b="1">
                <a:latin typeface="Arial"/>
                <a:ea typeface="Arial"/>
                <a:cs typeface="Arial"/>
                <a:sym typeface="Arial"/>
              </a:rPr>
              <a:t>Real </a:t>
            </a:r>
            <a:endParaRPr sz="1200" b="1">
              <a:latin typeface="Arial"/>
              <a:ea typeface="Arial"/>
              <a:cs typeface="Arial"/>
              <a:sym typeface="Arial"/>
            </a:endParaRPr>
          </a:p>
          <a:p>
            <a:pPr marL="914400" lvl="1" indent="-304800" algn="l" rtl="0">
              <a:lnSpc>
                <a:spcPct val="95000"/>
              </a:lnSpc>
              <a:spcBef>
                <a:spcPts val="0"/>
              </a:spcBef>
              <a:spcAft>
                <a:spcPts val="0"/>
              </a:spcAft>
              <a:buSzPts val="1200"/>
              <a:buChar char="○"/>
            </a:pPr>
            <a:r>
              <a:rPr lang="en-IN" sz="1200" b="1">
                <a:latin typeface="Arial"/>
                <a:ea typeface="Arial"/>
                <a:cs typeface="Arial"/>
                <a:sym typeface="Arial"/>
              </a:rPr>
              <a:t>AI-generated</a:t>
            </a:r>
            <a:endParaRPr sz="1200" b="1">
              <a:latin typeface="Arial"/>
              <a:ea typeface="Arial"/>
              <a:cs typeface="Arial"/>
              <a:sym typeface="Arial"/>
            </a:endParaRPr>
          </a:p>
          <a:p>
            <a:pPr marL="457200" lvl="0" indent="-304800" algn="l" rtl="0">
              <a:lnSpc>
                <a:spcPct val="95000"/>
              </a:lnSpc>
              <a:spcBef>
                <a:spcPts val="0"/>
              </a:spcBef>
              <a:spcAft>
                <a:spcPts val="0"/>
              </a:spcAft>
              <a:buSzPts val="1200"/>
              <a:buChar char="●"/>
            </a:pPr>
            <a:r>
              <a:rPr lang="en-IN" sz="1200">
                <a:latin typeface="Arial"/>
                <a:ea typeface="Arial"/>
                <a:cs typeface="Arial"/>
                <a:sym typeface="Arial"/>
              </a:rPr>
              <a:t>Images may undergo </a:t>
            </a:r>
            <a:r>
              <a:rPr lang="en-IN" sz="1200" b="1">
                <a:latin typeface="Arial"/>
                <a:ea typeface="Arial"/>
                <a:cs typeface="Arial"/>
                <a:sym typeface="Arial"/>
              </a:rPr>
              <a:t>real-world transformations</a:t>
            </a:r>
            <a:r>
              <a:rPr lang="en-IN" sz="1200">
                <a:latin typeface="Arial"/>
                <a:ea typeface="Arial"/>
                <a:cs typeface="Arial"/>
                <a:sym typeface="Arial"/>
              </a:rPr>
              <a:t> (compression, blur, resize, etc.)</a:t>
            </a:r>
            <a:endParaRPr sz="1200">
              <a:latin typeface="Arial"/>
              <a:ea typeface="Arial"/>
              <a:cs typeface="Arial"/>
              <a:sym typeface="Arial"/>
            </a:endParaRPr>
          </a:p>
          <a:p>
            <a:pPr marL="0" lvl="0" indent="0" algn="l" rtl="0">
              <a:lnSpc>
                <a:spcPct val="95000"/>
              </a:lnSpc>
              <a:spcBef>
                <a:spcPts val="1200"/>
              </a:spcBef>
              <a:spcAft>
                <a:spcPts val="0"/>
              </a:spcAft>
              <a:buSzPts val="688"/>
              <a:buNone/>
            </a:pPr>
            <a:r>
              <a:rPr lang="en-IN" sz="1300" b="1" u="sng">
                <a:latin typeface="Arial"/>
                <a:ea typeface="Arial"/>
                <a:cs typeface="Arial"/>
                <a:sym typeface="Arial"/>
              </a:rPr>
              <a:t>Labels &amp; What They Represent</a:t>
            </a:r>
            <a:endParaRPr sz="1300" u="sng">
              <a:latin typeface="Arial"/>
              <a:ea typeface="Arial"/>
              <a:cs typeface="Arial"/>
              <a:sym typeface="Arial"/>
            </a:endParaRPr>
          </a:p>
          <a:p>
            <a:pPr marL="457200" lvl="0" indent="-304800" algn="l" rtl="0">
              <a:lnSpc>
                <a:spcPct val="95000"/>
              </a:lnSpc>
              <a:spcBef>
                <a:spcPts val="1200"/>
              </a:spcBef>
              <a:spcAft>
                <a:spcPts val="0"/>
              </a:spcAft>
              <a:buSzPts val="1200"/>
              <a:buFont typeface="Arial"/>
              <a:buChar char="•"/>
            </a:pPr>
            <a:r>
              <a:rPr lang="en-IN" sz="1200">
                <a:latin typeface="Arial"/>
                <a:ea typeface="Arial"/>
                <a:cs typeface="Arial"/>
                <a:sym typeface="Arial"/>
              </a:rPr>
              <a:t>0 → Real image</a:t>
            </a:r>
            <a:endParaRPr sz="1200">
              <a:latin typeface="Arial"/>
              <a:ea typeface="Arial"/>
              <a:cs typeface="Arial"/>
              <a:sym typeface="Arial"/>
            </a:endParaRPr>
          </a:p>
          <a:p>
            <a:pPr marL="457200" lvl="0" indent="-304800" algn="l" rtl="0">
              <a:lnSpc>
                <a:spcPct val="95000"/>
              </a:lnSpc>
              <a:spcBef>
                <a:spcPts val="0"/>
              </a:spcBef>
              <a:spcAft>
                <a:spcPts val="0"/>
              </a:spcAft>
              <a:buSzPts val="1200"/>
              <a:buFont typeface="Arial"/>
              <a:buChar char="•"/>
            </a:pPr>
            <a:r>
              <a:rPr lang="en-IN" sz="1200">
                <a:latin typeface="Arial"/>
                <a:ea typeface="Arial"/>
                <a:cs typeface="Arial"/>
                <a:sym typeface="Arial"/>
              </a:rPr>
              <a:t>1 → AI-generated image</a:t>
            </a:r>
            <a:endParaRPr sz="1200">
              <a:latin typeface="Arial"/>
              <a:ea typeface="Arial"/>
              <a:cs typeface="Arial"/>
              <a:sym typeface="Arial"/>
            </a:endParaRPr>
          </a:p>
          <a:p>
            <a:pPr marL="457200" lvl="0" indent="-304800" algn="l" rtl="0">
              <a:lnSpc>
                <a:spcPct val="95000"/>
              </a:lnSpc>
              <a:spcBef>
                <a:spcPts val="0"/>
              </a:spcBef>
              <a:spcAft>
                <a:spcPts val="0"/>
              </a:spcAft>
              <a:buSzPts val="1200"/>
              <a:buFont typeface="Arial"/>
              <a:buChar char="•"/>
            </a:pPr>
            <a:r>
              <a:rPr lang="en-IN" sz="1200">
                <a:latin typeface="Arial"/>
                <a:ea typeface="Arial"/>
                <a:cs typeface="Arial"/>
                <a:sym typeface="Arial"/>
              </a:rPr>
              <a:t>Model output is a probability score, not a hard label.</a:t>
            </a:r>
            <a:endParaRPr sz="1200">
              <a:latin typeface="Arial"/>
              <a:ea typeface="Arial"/>
              <a:cs typeface="Arial"/>
              <a:sym typeface="Arial"/>
            </a:endParaRPr>
          </a:p>
          <a:p>
            <a:pPr marL="0" lvl="0" indent="0" algn="l" rtl="0">
              <a:lnSpc>
                <a:spcPct val="115000"/>
              </a:lnSpc>
              <a:spcBef>
                <a:spcPts val="1400"/>
              </a:spcBef>
              <a:spcAft>
                <a:spcPts val="0"/>
              </a:spcAft>
              <a:buClr>
                <a:schemeClr val="dk1"/>
              </a:buClr>
              <a:buSzPts val="1100"/>
              <a:buFont typeface="Arial"/>
              <a:buNone/>
            </a:pPr>
            <a:r>
              <a:rPr lang="en-IN" sz="1300" b="1" u="sng">
                <a:latin typeface="Arial"/>
                <a:ea typeface="Arial"/>
                <a:cs typeface="Arial"/>
                <a:sym typeface="Arial"/>
              </a:rPr>
              <a:t>Potential Preprocessing Steps</a:t>
            </a:r>
            <a:endParaRPr sz="1300" b="1" u="sng">
              <a:latin typeface="Arial"/>
              <a:ea typeface="Arial"/>
              <a:cs typeface="Arial"/>
              <a:sym typeface="Arial"/>
            </a:endParaRPr>
          </a:p>
          <a:p>
            <a:pPr marL="457200" lvl="0" indent="-304800" algn="l" rtl="0">
              <a:lnSpc>
                <a:spcPct val="115000"/>
              </a:lnSpc>
              <a:spcBef>
                <a:spcPts val="1200"/>
              </a:spcBef>
              <a:spcAft>
                <a:spcPts val="0"/>
              </a:spcAft>
              <a:buSzPts val="1200"/>
              <a:buChar char="●"/>
            </a:pPr>
            <a:r>
              <a:rPr lang="en-IN" sz="1200">
                <a:latin typeface="Arial"/>
                <a:ea typeface="Arial"/>
                <a:cs typeface="Arial"/>
                <a:sym typeface="Arial"/>
              </a:rPr>
              <a:t>Image resizing &amp; normalization</a:t>
            </a:r>
            <a:endParaRPr sz="1200">
              <a:latin typeface="Arial"/>
              <a:ea typeface="Arial"/>
              <a:cs typeface="Arial"/>
              <a:sym typeface="Arial"/>
            </a:endParaRPr>
          </a:p>
          <a:p>
            <a:pPr marL="457200" lvl="0" indent="-304800" algn="l" rtl="0">
              <a:lnSpc>
                <a:spcPct val="115000"/>
              </a:lnSpc>
              <a:spcBef>
                <a:spcPts val="0"/>
              </a:spcBef>
              <a:spcAft>
                <a:spcPts val="0"/>
              </a:spcAft>
              <a:buSzPts val="1200"/>
              <a:buChar char="●"/>
            </a:pPr>
            <a:r>
              <a:rPr lang="en-IN" sz="1200">
                <a:latin typeface="Arial"/>
                <a:ea typeface="Arial"/>
                <a:cs typeface="Arial"/>
                <a:sym typeface="Arial"/>
              </a:rPr>
              <a:t>Strong data augmentation:</a:t>
            </a:r>
            <a:endParaRPr sz="1200">
              <a:latin typeface="Arial"/>
              <a:ea typeface="Arial"/>
              <a:cs typeface="Arial"/>
              <a:sym typeface="Arial"/>
            </a:endParaRPr>
          </a:p>
          <a:p>
            <a:pPr marL="914400" lvl="1" indent="-304800" algn="l" rtl="0">
              <a:lnSpc>
                <a:spcPct val="115000"/>
              </a:lnSpc>
              <a:spcBef>
                <a:spcPts val="0"/>
              </a:spcBef>
              <a:spcAft>
                <a:spcPts val="0"/>
              </a:spcAft>
              <a:buSzPts val="1200"/>
              <a:buChar char="○"/>
            </a:pPr>
            <a:r>
              <a:rPr lang="en-IN" sz="1200">
                <a:latin typeface="Arial"/>
                <a:ea typeface="Arial"/>
                <a:cs typeface="Arial"/>
                <a:sym typeface="Arial"/>
              </a:rPr>
              <a:t>compression</a:t>
            </a:r>
            <a:endParaRPr sz="1200">
              <a:latin typeface="Arial"/>
              <a:ea typeface="Arial"/>
              <a:cs typeface="Arial"/>
              <a:sym typeface="Arial"/>
            </a:endParaRPr>
          </a:p>
          <a:p>
            <a:pPr marL="914400" lvl="1" indent="-304800" algn="l" rtl="0">
              <a:lnSpc>
                <a:spcPct val="115000"/>
              </a:lnSpc>
              <a:spcBef>
                <a:spcPts val="0"/>
              </a:spcBef>
              <a:spcAft>
                <a:spcPts val="0"/>
              </a:spcAft>
              <a:buSzPts val="1200"/>
              <a:buChar char="○"/>
            </a:pPr>
            <a:r>
              <a:rPr lang="en-IN" sz="1200">
                <a:latin typeface="Arial"/>
                <a:ea typeface="Arial"/>
                <a:cs typeface="Arial"/>
                <a:sym typeface="Arial"/>
              </a:rPr>
              <a:t>Gaussian blur</a:t>
            </a:r>
            <a:endParaRPr sz="1200">
              <a:latin typeface="Arial"/>
              <a:ea typeface="Arial"/>
              <a:cs typeface="Arial"/>
              <a:sym typeface="Arial"/>
            </a:endParaRPr>
          </a:p>
          <a:p>
            <a:pPr marL="914400" lvl="1" indent="-304800" algn="l" rtl="0">
              <a:lnSpc>
                <a:spcPct val="115000"/>
              </a:lnSpc>
              <a:spcBef>
                <a:spcPts val="0"/>
              </a:spcBef>
              <a:spcAft>
                <a:spcPts val="0"/>
              </a:spcAft>
              <a:buSzPts val="1200"/>
              <a:buChar char="○"/>
            </a:pPr>
            <a:r>
              <a:rPr lang="en-IN" sz="1200">
                <a:latin typeface="Arial"/>
                <a:ea typeface="Arial"/>
                <a:cs typeface="Arial"/>
                <a:sym typeface="Arial"/>
              </a:rPr>
              <a:t>Random resize / crop</a:t>
            </a:r>
            <a:endParaRPr sz="1200">
              <a:latin typeface="Arial"/>
              <a:ea typeface="Arial"/>
              <a:cs typeface="Arial"/>
              <a:sym typeface="Arial"/>
            </a:endParaRPr>
          </a:p>
          <a:p>
            <a:pPr marL="914400" lvl="1" indent="-304800" algn="l" rtl="0">
              <a:lnSpc>
                <a:spcPct val="115000"/>
              </a:lnSpc>
              <a:spcBef>
                <a:spcPts val="0"/>
              </a:spcBef>
              <a:spcAft>
                <a:spcPts val="0"/>
              </a:spcAft>
              <a:buSzPts val="1200"/>
              <a:buChar char="○"/>
            </a:pPr>
            <a:r>
              <a:rPr lang="en-IN" sz="1200">
                <a:latin typeface="Arial"/>
                <a:ea typeface="Arial"/>
                <a:cs typeface="Arial"/>
                <a:sym typeface="Arial"/>
              </a:rPr>
              <a:t>Noise injection</a:t>
            </a:r>
            <a:endParaRPr sz="1200">
              <a:latin typeface="Arial"/>
              <a:ea typeface="Arial"/>
              <a:cs typeface="Arial"/>
              <a:sym typeface="Arial"/>
            </a:endParaRPr>
          </a:p>
          <a:p>
            <a:pPr marL="457200" lvl="0" indent="-304800" algn="l" rtl="0">
              <a:lnSpc>
                <a:spcPct val="115000"/>
              </a:lnSpc>
              <a:spcBef>
                <a:spcPts val="0"/>
              </a:spcBef>
              <a:spcAft>
                <a:spcPts val="0"/>
              </a:spcAft>
              <a:buSzPts val="1200"/>
              <a:buChar char="●"/>
            </a:pPr>
            <a:r>
              <a:rPr lang="en-IN" sz="1200">
                <a:latin typeface="Arial"/>
                <a:ea typeface="Arial"/>
                <a:cs typeface="Arial"/>
                <a:sym typeface="Arial"/>
              </a:rPr>
              <a:t>Ensure robustness to distribution shifts</a:t>
            </a:r>
            <a:endParaRPr sz="1200">
              <a:latin typeface="Arial"/>
              <a:ea typeface="Arial"/>
              <a:cs typeface="Arial"/>
              <a:sym typeface="Arial"/>
            </a:endParaRPr>
          </a:p>
          <a:p>
            <a:pPr marL="0" lvl="0" indent="0" algn="l" rtl="0">
              <a:lnSpc>
                <a:spcPct val="115000"/>
              </a:lnSpc>
              <a:spcBef>
                <a:spcPts val="1400"/>
              </a:spcBef>
              <a:spcAft>
                <a:spcPts val="0"/>
              </a:spcAft>
              <a:buNone/>
            </a:pPr>
            <a:r>
              <a:rPr lang="en-IN" sz="1300" b="1" u="sng">
                <a:latin typeface="Arial"/>
                <a:ea typeface="Arial"/>
                <a:cs typeface="Arial"/>
                <a:sym typeface="Arial"/>
              </a:rPr>
              <a:t>Potential Challenges with the dataset</a:t>
            </a:r>
            <a:endParaRPr sz="1300" b="1" u="sng">
              <a:latin typeface="Arial"/>
              <a:ea typeface="Arial"/>
              <a:cs typeface="Arial"/>
              <a:sym typeface="Arial"/>
            </a:endParaRPr>
          </a:p>
          <a:p>
            <a:pPr marL="457200" lvl="0" indent="-298450" algn="l" rtl="0">
              <a:lnSpc>
                <a:spcPct val="115000"/>
              </a:lnSpc>
              <a:spcBef>
                <a:spcPts val="1400"/>
              </a:spcBef>
              <a:spcAft>
                <a:spcPts val="0"/>
              </a:spcAft>
              <a:buSzPts val="1100"/>
              <a:buFont typeface="Arial"/>
              <a:buChar char="•"/>
            </a:pPr>
            <a:r>
              <a:rPr lang="en-IN" sz="1100">
                <a:latin typeface="Arial"/>
                <a:ea typeface="Arial"/>
                <a:cs typeface="Arial"/>
                <a:sym typeface="Arial"/>
              </a:rPr>
              <a:t>Class Imbalance</a:t>
            </a:r>
            <a:endParaRPr sz="1100">
              <a:latin typeface="Arial"/>
              <a:ea typeface="Arial"/>
              <a:cs typeface="Arial"/>
              <a:sym typeface="Arial"/>
            </a:endParaRPr>
          </a:p>
          <a:p>
            <a:pPr marL="457200" lvl="0" indent="-298450" algn="l" rtl="0">
              <a:lnSpc>
                <a:spcPct val="115000"/>
              </a:lnSpc>
              <a:spcBef>
                <a:spcPts val="0"/>
              </a:spcBef>
              <a:spcAft>
                <a:spcPts val="0"/>
              </a:spcAft>
              <a:buSzPts val="1100"/>
              <a:buFont typeface="Arial"/>
              <a:buChar char="•"/>
            </a:pPr>
            <a:r>
              <a:rPr lang="en-IN" sz="1100">
                <a:latin typeface="Arial"/>
                <a:ea typeface="Arial"/>
                <a:cs typeface="Arial"/>
                <a:sym typeface="Arial"/>
              </a:rPr>
              <a:t>Generator Bias</a:t>
            </a:r>
            <a:endParaRPr sz="1100">
              <a:latin typeface="Arial"/>
              <a:ea typeface="Arial"/>
              <a:cs typeface="Arial"/>
              <a:sym typeface="Arial"/>
            </a:endParaRPr>
          </a:p>
        </p:txBody>
      </p:sp>
      <p:pic>
        <p:nvPicPr>
          <p:cNvPr id="139" name="Google Shape;139;p7"/>
          <p:cNvPicPr preferRelativeResize="0"/>
          <p:nvPr/>
        </p:nvPicPr>
        <p:blipFill>
          <a:blip r:embed="rId3">
            <a:alphaModFix/>
          </a:blip>
          <a:stretch>
            <a:fillRect/>
          </a:stretch>
        </p:blipFill>
        <p:spPr>
          <a:xfrm>
            <a:off x="5313350" y="3520300"/>
            <a:ext cx="5432476" cy="1745401"/>
          </a:xfrm>
          <a:prstGeom prst="rect">
            <a:avLst/>
          </a:prstGeom>
          <a:noFill/>
          <a:ln>
            <a:noFill/>
          </a:ln>
        </p:spPr>
      </p:pic>
      <p:pic>
        <p:nvPicPr>
          <p:cNvPr id="140" name="Google Shape;140;p7"/>
          <p:cNvPicPr preferRelativeResize="0"/>
          <p:nvPr/>
        </p:nvPicPr>
        <p:blipFill>
          <a:blip r:embed="rId4">
            <a:alphaModFix/>
          </a:blip>
          <a:stretch>
            <a:fillRect/>
          </a:stretch>
        </p:blipFill>
        <p:spPr>
          <a:xfrm>
            <a:off x="7040146" y="1687575"/>
            <a:ext cx="3563980" cy="1325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4"/>
        <p:cNvGrpSpPr/>
        <p:nvPr/>
      </p:nvGrpSpPr>
      <p:grpSpPr>
        <a:xfrm>
          <a:off x="0" y="0"/>
          <a:ext cx="0" cy="0"/>
          <a:chOff x="0" y="0"/>
          <a:chExt cx="0" cy="0"/>
        </a:xfrm>
      </p:grpSpPr>
      <p:sp>
        <p:nvSpPr>
          <p:cNvPr id="145" name="Google Shape;145;p8"/>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6" name="Google Shape;146;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200"/>
              <a:buFont typeface="Calibri"/>
              <a:buNone/>
            </a:pPr>
            <a:r>
              <a:rPr lang="en-IN" sz="4200" dirty="0"/>
              <a:t>Evaluation Metrics</a:t>
            </a:r>
            <a:endParaRPr dirty="0"/>
          </a:p>
        </p:txBody>
      </p:sp>
      <p:sp>
        <p:nvSpPr>
          <p:cNvPr id="147" name="Google Shape;147;p8"/>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8" name="Google Shape;148;p8"/>
          <p:cNvSpPr txBox="1">
            <a:spLocks noGrp="1"/>
          </p:cNvSpPr>
          <p:nvPr>
            <p:ph type="body" idx="1"/>
          </p:nvPr>
        </p:nvSpPr>
        <p:spPr>
          <a:xfrm>
            <a:off x="838200" y="1929384"/>
            <a:ext cx="7248277" cy="4251960"/>
          </a:xfrm>
          <a:prstGeom prst="rect">
            <a:avLst/>
          </a:prstGeom>
          <a:noFill/>
          <a:ln>
            <a:noFill/>
          </a:ln>
        </p:spPr>
        <p:txBody>
          <a:bodyPr spcFirstLastPara="1" wrap="square" lIns="91425" tIns="45700" rIns="91425" bIns="45700" anchor="t" anchorCtr="0">
            <a:normAutofit/>
          </a:bodyPr>
          <a:lstStyle/>
          <a:p>
            <a:pPr marL="482600">
              <a:spcBef>
                <a:spcPts val="0"/>
              </a:spcBef>
              <a:buSzPts val="2200"/>
            </a:pPr>
            <a:r>
              <a:rPr lang="en-IN" sz="2400" dirty="0"/>
              <a:t>ROC – Receiver Operating Characteristic</a:t>
            </a:r>
          </a:p>
          <a:p>
            <a:pPr marL="939800" lvl="1">
              <a:spcBef>
                <a:spcPts val="0"/>
              </a:spcBef>
              <a:buSzPts val="2200"/>
            </a:pPr>
            <a:r>
              <a:rPr lang="en-IN" sz="2000" dirty="0"/>
              <a:t>It’s a graph that plots True Positive Rate (TPR) vs. False Positive Rate (FPR) </a:t>
            </a:r>
          </a:p>
          <a:p>
            <a:pPr marL="939800" lvl="1">
              <a:spcBef>
                <a:spcPts val="0"/>
              </a:spcBef>
              <a:buSzPts val="2200"/>
            </a:pPr>
            <a:r>
              <a:rPr lang="en-IN" sz="2000" dirty="0"/>
              <a:t>We want a high TPR (detection) and a low FPR (false alarm) </a:t>
            </a:r>
          </a:p>
          <a:p>
            <a:pPr marL="139700" indent="0">
              <a:spcBef>
                <a:spcPts val="0"/>
              </a:spcBef>
              <a:buSzPts val="2200"/>
              <a:buNone/>
            </a:pPr>
            <a:endParaRPr lang="en-IN" sz="2400" dirty="0"/>
          </a:p>
          <a:p>
            <a:pPr marL="482600">
              <a:spcBef>
                <a:spcPts val="0"/>
              </a:spcBef>
              <a:buSzPts val="2200"/>
            </a:pPr>
            <a:r>
              <a:rPr lang="en-IN" sz="2400" dirty="0"/>
              <a:t>AUC – Area Under the Curve</a:t>
            </a:r>
          </a:p>
          <a:p>
            <a:pPr marL="939800" lvl="1">
              <a:spcBef>
                <a:spcPts val="0"/>
              </a:spcBef>
              <a:buSzPts val="2200"/>
            </a:pPr>
            <a:r>
              <a:rPr lang="en-IN" sz="2000" dirty="0"/>
              <a:t>A single score [0,1] – summarizes the ROC curve </a:t>
            </a:r>
          </a:p>
          <a:p>
            <a:pPr marL="939800" lvl="1">
              <a:spcBef>
                <a:spcPts val="0"/>
              </a:spcBef>
              <a:buSzPts val="2200"/>
            </a:pPr>
            <a:r>
              <a:rPr lang="en-IN" sz="2000" dirty="0"/>
              <a:t>Interpretation:</a:t>
            </a:r>
          </a:p>
          <a:p>
            <a:pPr marL="1397000" lvl="2">
              <a:spcBef>
                <a:spcPts val="0"/>
              </a:spcBef>
              <a:buSzPts val="2200"/>
            </a:pPr>
            <a:r>
              <a:rPr lang="en-IN" sz="1600" dirty="0"/>
              <a:t>1 – Perfect Classifier </a:t>
            </a:r>
          </a:p>
          <a:p>
            <a:pPr marL="1397000" lvl="2">
              <a:spcBef>
                <a:spcPts val="0"/>
              </a:spcBef>
              <a:buSzPts val="2200"/>
            </a:pPr>
            <a:r>
              <a:rPr lang="en-IN" sz="1600" dirty="0"/>
              <a:t>0.5 – Random Classification </a:t>
            </a:r>
          </a:p>
          <a:p>
            <a:pPr marL="1397000" lvl="2">
              <a:spcBef>
                <a:spcPts val="0"/>
              </a:spcBef>
              <a:buSzPts val="2200"/>
            </a:pPr>
            <a:r>
              <a:rPr lang="en-IN" sz="1600" dirty="0"/>
              <a:t>&lt;0.5 – Worse than Random Classification</a:t>
            </a:r>
          </a:p>
          <a:p>
            <a:pPr marL="1054100" lvl="2" indent="0">
              <a:spcBef>
                <a:spcPts val="0"/>
              </a:spcBef>
              <a:buSzPts val="2200"/>
              <a:buNone/>
            </a:pPr>
            <a:r>
              <a:rPr lang="en-IN" sz="1600" dirty="0"/>
              <a:t> </a:t>
            </a:r>
          </a:p>
        </p:txBody>
      </p:sp>
      <p:pic>
        <p:nvPicPr>
          <p:cNvPr id="1028" name="Picture 4" descr="Understanding the ROC-AUC Curve. Evaluating Classification Model… | by  misun_song | Medium">
            <a:extLst>
              <a:ext uri="{FF2B5EF4-FFF2-40B4-BE49-F238E27FC236}">
                <a16:creationId xmlns:a16="http://schemas.microsoft.com/office/drawing/2014/main" id="{0B94BA92-6226-8091-A359-DE4FD975AD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78186" y="1940617"/>
            <a:ext cx="3279913" cy="32799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2"/>
        <p:cNvGrpSpPr/>
        <p:nvPr/>
      </p:nvGrpSpPr>
      <p:grpSpPr>
        <a:xfrm>
          <a:off x="0" y="0"/>
          <a:ext cx="0" cy="0"/>
          <a:chOff x="0" y="0"/>
          <a:chExt cx="0" cy="0"/>
        </a:xfrm>
      </p:grpSpPr>
      <p:sp>
        <p:nvSpPr>
          <p:cNvPr id="153" name="Google Shape;153;p9"/>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4" name="Google Shape;154;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200"/>
              <a:buFont typeface="Calibri"/>
              <a:buNone/>
            </a:pPr>
            <a:r>
              <a:rPr lang="en-IN" sz="4200"/>
              <a:t>Literature Review</a:t>
            </a:r>
            <a:endParaRPr dirty="0"/>
          </a:p>
        </p:txBody>
      </p:sp>
      <p:sp>
        <p:nvSpPr>
          <p:cNvPr id="155" name="Google Shape;155;p9"/>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6" name="Google Shape;156;p9"/>
          <p:cNvSpPr txBox="1">
            <a:spLocks noGrp="1"/>
          </p:cNvSpPr>
          <p:nvPr>
            <p:ph type="body" idx="1"/>
          </p:nvPr>
        </p:nvSpPr>
        <p:spPr>
          <a:xfrm>
            <a:off x="838200" y="1929384"/>
            <a:ext cx="10515600" cy="4251960"/>
          </a:xfrm>
          <a:prstGeom prst="rect">
            <a:avLst/>
          </a:prstGeom>
          <a:noFill/>
          <a:ln>
            <a:noFill/>
          </a:ln>
        </p:spPr>
        <p:txBody>
          <a:bodyPr spcFirstLastPara="1" wrap="square" lIns="91425" tIns="45700" rIns="91425" bIns="45700" anchor="t" anchorCtr="0">
            <a:normAutofit/>
          </a:bodyPr>
          <a:lstStyle/>
          <a:p>
            <a:pPr marL="0" lvl="0" indent="0" algn="l" rtl="0">
              <a:spcBef>
                <a:spcPts val="1000"/>
              </a:spcBef>
              <a:spcAft>
                <a:spcPts val="0"/>
              </a:spcAft>
              <a:buClr>
                <a:schemeClr val="dk1"/>
              </a:buClr>
              <a:buSzPts val="1100"/>
              <a:buFont typeface="Arial"/>
              <a:buNone/>
            </a:pPr>
            <a:r>
              <a:rPr lang="en-IN" sz="2200"/>
              <a:t>Diffusion Reconstruction Error (DIRE)</a:t>
            </a:r>
            <a:endParaRPr sz="2200"/>
          </a:p>
          <a:p>
            <a:pPr marL="12700" lvl="0" indent="0" algn="l" rtl="0">
              <a:spcBef>
                <a:spcPts val="500"/>
              </a:spcBef>
              <a:spcAft>
                <a:spcPts val="0"/>
              </a:spcAft>
              <a:buClr>
                <a:schemeClr val="dk1"/>
              </a:buClr>
              <a:buSzPts val="1100"/>
              <a:buFont typeface="Arial"/>
              <a:buNone/>
            </a:pPr>
            <a:r>
              <a:rPr lang="en-IN" sz="1800">
                <a:latin typeface="Arial"/>
                <a:ea typeface="Arial"/>
                <a:cs typeface="Arial"/>
                <a:sym typeface="Arial"/>
              </a:rPr>
              <a:t>1.</a:t>
            </a:r>
            <a:r>
              <a:rPr lang="en-IN" sz="1800"/>
              <a:t>Hypothesis: “ Synthetic images are more easily reconstructed by a pre-trained diffusion models than real world photos.”</a:t>
            </a:r>
            <a:endParaRPr sz="1800"/>
          </a:p>
          <a:p>
            <a:pPr marL="12700" lvl="0" indent="0" algn="l" rtl="0">
              <a:spcBef>
                <a:spcPts val="500"/>
              </a:spcBef>
              <a:spcAft>
                <a:spcPts val="0"/>
              </a:spcAft>
              <a:buClr>
                <a:schemeClr val="dk1"/>
              </a:buClr>
              <a:buSzPts val="1100"/>
              <a:buFont typeface="Arial"/>
              <a:buNone/>
            </a:pPr>
            <a:r>
              <a:rPr lang="en-IN" sz="1800">
                <a:latin typeface="Arial"/>
                <a:ea typeface="Arial"/>
                <a:cs typeface="Arial"/>
                <a:sym typeface="Arial"/>
              </a:rPr>
              <a:t>2.</a:t>
            </a:r>
            <a:r>
              <a:rPr lang="en-IN" sz="1800"/>
              <a:t>Noise </a:t>
            </a:r>
            <a:r>
              <a:rPr lang="en-IN" sz="1800">
                <a:latin typeface="Arial"/>
                <a:ea typeface="Arial"/>
                <a:cs typeface="Arial"/>
                <a:sym typeface="Arial"/>
              </a:rPr>
              <a:t>-&gt;</a:t>
            </a:r>
            <a:r>
              <a:rPr lang="en-IN" sz="1800"/>
              <a:t> Denoise </a:t>
            </a:r>
            <a:r>
              <a:rPr lang="en-IN" sz="1800">
                <a:latin typeface="Arial"/>
                <a:ea typeface="Arial"/>
                <a:cs typeface="Arial"/>
                <a:sym typeface="Arial"/>
              </a:rPr>
              <a:t>-&gt; </a:t>
            </a:r>
            <a:r>
              <a:rPr lang="en-IN" sz="1800"/>
              <a:t>calculate reconstruction error</a:t>
            </a:r>
            <a:endParaRPr sz="1800"/>
          </a:p>
          <a:p>
            <a:pPr marL="12700" lvl="0" indent="0" algn="l" rtl="0">
              <a:spcBef>
                <a:spcPts val="500"/>
              </a:spcBef>
              <a:spcAft>
                <a:spcPts val="0"/>
              </a:spcAft>
              <a:buClr>
                <a:schemeClr val="dk1"/>
              </a:buClr>
              <a:buSzPts val="1100"/>
              <a:buFont typeface="Arial"/>
              <a:buNone/>
            </a:pPr>
            <a:r>
              <a:rPr lang="en-IN" sz="1800">
                <a:latin typeface="Arial"/>
                <a:ea typeface="Arial"/>
                <a:cs typeface="Arial"/>
                <a:sym typeface="Arial"/>
              </a:rPr>
              <a:t>3.</a:t>
            </a:r>
            <a:r>
              <a:rPr lang="en-IN" sz="1800"/>
              <a:t>Real Images </a:t>
            </a:r>
            <a:r>
              <a:rPr lang="en-IN" sz="1800">
                <a:latin typeface="Arial"/>
                <a:ea typeface="Arial"/>
                <a:cs typeface="Arial"/>
                <a:sym typeface="Arial"/>
              </a:rPr>
              <a:t>-&gt; </a:t>
            </a:r>
            <a:r>
              <a:rPr lang="en-IN" sz="1800"/>
              <a:t>High amplitude error map</a:t>
            </a:r>
            <a:endParaRPr sz="1800"/>
          </a:p>
          <a:p>
            <a:pPr marL="228600" lvl="0" indent="-88900" algn="l" rtl="0">
              <a:lnSpc>
                <a:spcPct val="90000"/>
              </a:lnSpc>
              <a:spcBef>
                <a:spcPts val="0"/>
              </a:spcBef>
              <a:spcAft>
                <a:spcPts val="0"/>
              </a:spcAft>
              <a:buClr>
                <a:schemeClr val="dk1"/>
              </a:buClr>
              <a:buSzPts val="2200"/>
              <a:buNone/>
            </a:pPr>
            <a:endParaRPr sz="2200"/>
          </a:p>
          <a:p>
            <a:pPr marL="0" lvl="0" indent="0" algn="l" rtl="0">
              <a:lnSpc>
                <a:spcPct val="115000"/>
              </a:lnSpc>
              <a:spcBef>
                <a:spcPts val="0"/>
              </a:spcBef>
              <a:spcAft>
                <a:spcPts val="0"/>
              </a:spcAft>
              <a:buClr>
                <a:schemeClr val="dk1"/>
              </a:buClr>
              <a:buSzPts val="1100"/>
              <a:buFont typeface="Arial"/>
              <a:buNone/>
            </a:pPr>
            <a:r>
              <a:rPr lang="en-IN" sz="1800"/>
              <a:t>Frequency Guided Reconstruction Error (FIRE)</a:t>
            </a:r>
            <a:endParaRPr sz="1800"/>
          </a:p>
          <a:p>
            <a:pPr marL="12700" lvl="0" indent="0" algn="l" rtl="0">
              <a:lnSpc>
                <a:spcPct val="115000"/>
              </a:lnSpc>
              <a:spcBef>
                <a:spcPts val="0"/>
              </a:spcBef>
              <a:spcAft>
                <a:spcPts val="0"/>
              </a:spcAft>
              <a:buClr>
                <a:schemeClr val="dk1"/>
              </a:buClr>
              <a:buSzPts val="1100"/>
              <a:buFont typeface="Arial"/>
              <a:buNone/>
            </a:pPr>
            <a:r>
              <a:rPr lang="en-IN" sz="1800">
                <a:latin typeface="Arial"/>
                <a:ea typeface="Arial"/>
                <a:cs typeface="Arial"/>
                <a:sym typeface="Arial"/>
              </a:rPr>
              <a:t>1.</a:t>
            </a:r>
            <a:r>
              <a:rPr lang="en-IN" sz="1800"/>
              <a:t>AI models fail to perfectly recreate the ‘middle’ details of a real photo- mid frequency information</a:t>
            </a:r>
            <a:endParaRPr sz="1800"/>
          </a:p>
          <a:p>
            <a:pPr marL="12700" lvl="0" indent="0" algn="l" rtl="0">
              <a:lnSpc>
                <a:spcPct val="115000"/>
              </a:lnSpc>
              <a:spcBef>
                <a:spcPts val="0"/>
              </a:spcBef>
              <a:spcAft>
                <a:spcPts val="0"/>
              </a:spcAft>
              <a:buClr>
                <a:schemeClr val="dk1"/>
              </a:buClr>
              <a:buSzPts val="1100"/>
              <a:buNone/>
            </a:pPr>
            <a:r>
              <a:rPr lang="en-IN" sz="1800">
                <a:latin typeface="Arial"/>
                <a:ea typeface="Arial"/>
                <a:cs typeface="Arial"/>
                <a:sym typeface="Arial"/>
              </a:rPr>
              <a:t>2.</a:t>
            </a:r>
            <a:r>
              <a:rPr lang="en-IN" sz="1800"/>
              <a:t>Uses Frequency Mask Refinement (FMRE)  to filter out the easy parts of image and focus only on mid-frequency information. </a:t>
            </a:r>
            <a:endParaRPr sz="1800"/>
          </a:p>
          <a:p>
            <a:pPr marL="12700" lvl="0" indent="0" algn="l" rtl="0">
              <a:lnSpc>
                <a:spcPct val="115000"/>
              </a:lnSpc>
              <a:spcBef>
                <a:spcPts val="0"/>
              </a:spcBef>
              <a:spcAft>
                <a:spcPts val="0"/>
              </a:spcAft>
              <a:buClr>
                <a:schemeClr val="dk1"/>
              </a:buClr>
              <a:buSzPts val="1100"/>
              <a:buNone/>
            </a:pPr>
            <a:r>
              <a:rPr lang="en-IN" sz="1800"/>
              <a:t>3.Superior robustness against JPEG compressions, blurring etc</a:t>
            </a:r>
            <a:endParaRPr sz="2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0"/>
        <p:cNvGrpSpPr/>
        <p:nvPr/>
      </p:nvGrpSpPr>
      <p:grpSpPr>
        <a:xfrm>
          <a:off x="0" y="0"/>
          <a:ext cx="0" cy="0"/>
          <a:chOff x="0" y="0"/>
          <a:chExt cx="0" cy="0"/>
        </a:xfrm>
      </p:grpSpPr>
      <p:sp>
        <p:nvSpPr>
          <p:cNvPr id="161" name="Google Shape;161;g3c1fe5e5e70_0_6"/>
          <p:cNvSpPr/>
          <p:nvPr/>
        </p:nvSpPr>
        <p:spPr>
          <a:xfrm>
            <a:off x="0"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2" name="Google Shape;162;g3c1fe5e5e70_0_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200"/>
              <a:buFont typeface="Calibri"/>
              <a:buNone/>
            </a:pPr>
            <a:r>
              <a:rPr lang="en-IN" sz="4200" dirty="0"/>
              <a:t>Literature Review - Cont’d</a:t>
            </a:r>
            <a:endParaRPr dirty="0"/>
          </a:p>
        </p:txBody>
      </p:sp>
      <p:sp>
        <p:nvSpPr>
          <p:cNvPr id="163" name="Google Shape;163;g3c1fe5e5e70_0_6"/>
          <p:cNvSpPr/>
          <p:nvPr/>
        </p:nvSpPr>
        <p:spPr>
          <a:xfrm>
            <a:off x="669036" y="1677373"/>
            <a:ext cx="10853928" cy="18288"/>
          </a:xfrm>
          <a:custGeom>
            <a:avLst/>
            <a:gdLst/>
            <a:ahLst/>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4" name="Google Shape;164;g3c1fe5e5e70_0_6"/>
          <p:cNvSpPr txBox="1">
            <a:spLocks noGrp="1"/>
          </p:cNvSpPr>
          <p:nvPr>
            <p:ph type="body" idx="1"/>
          </p:nvPr>
        </p:nvSpPr>
        <p:spPr>
          <a:xfrm>
            <a:off x="838200" y="1929384"/>
            <a:ext cx="10515600" cy="4251900"/>
          </a:xfrm>
          <a:prstGeom prst="rect">
            <a:avLst/>
          </a:prstGeom>
          <a:noFill/>
          <a:ln>
            <a:noFill/>
          </a:ln>
        </p:spPr>
        <p:txBody>
          <a:bodyPr spcFirstLastPara="1" wrap="square" lIns="91425" tIns="45700" rIns="91425" bIns="45700" anchor="t" anchorCtr="0">
            <a:normAutofit/>
          </a:bodyPr>
          <a:lstStyle/>
          <a:p>
            <a:pPr marL="0" lvl="0" indent="0" algn="l" rtl="0">
              <a:spcBef>
                <a:spcPts val="1000"/>
              </a:spcBef>
              <a:spcAft>
                <a:spcPts val="0"/>
              </a:spcAft>
              <a:buClr>
                <a:schemeClr val="dk1"/>
              </a:buClr>
              <a:buSzPts val="1100"/>
              <a:buNone/>
            </a:pPr>
            <a:r>
              <a:rPr lang="en-IN" sz="2000" dirty="0"/>
              <a:t>G-Channel Removed Reconstruction Error (GRRE)</a:t>
            </a:r>
            <a:endParaRPr sz="2000" dirty="0"/>
          </a:p>
          <a:p>
            <a:pPr marL="12700" lvl="0" indent="0" algn="l" rtl="0">
              <a:spcBef>
                <a:spcPts val="500"/>
              </a:spcBef>
              <a:spcAft>
                <a:spcPts val="0"/>
              </a:spcAft>
              <a:buClr>
                <a:schemeClr val="dk1"/>
              </a:buClr>
              <a:buSzPts val="1100"/>
              <a:buNone/>
            </a:pPr>
            <a:r>
              <a:rPr lang="en-IN" sz="1700" dirty="0">
                <a:latin typeface="Arial"/>
                <a:ea typeface="Arial"/>
                <a:cs typeface="Arial"/>
                <a:sym typeface="Arial"/>
              </a:rPr>
              <a:t>1.</a:t>
            </a:r>
            <a:r>
              <a:rPr lang="en-IN" sz="1700" dirty="0"/>
              <a:t>Digital cameras use filters that consist of 50% green pixels, 25%red pixels and 25% blue pixels.</a:t>
            </a:r>
            <a:endParaRPr sz="1700" dirty="0"/>
          </a:p>
          <a:p>
            <a:pPr marL="12700" lvl="0" indent="0" algn="l" rtl="0">
              <a:spcBef>
                <a:spcPts val="500"/>
              </a:spcBef>
              <a:spcAft>
                <a:spcPts val="0"/>
              </a:spcAft>
              <a:buClr>
                <a:schemeClr val="dk1"/>
              </a:buClr>
              <a:buSzPts val="1100"/>
              <a:buNone/>
            </a:pPr>
            <a:r>
              <a:rPr lang="en-IN" sz="1700" dirty="0">
                <a:latin typeface="Arial"/>
                <a:ea typeface="Arial"/>
                <a:cs typeface="Arial"/>
                <a:sym typeface="Arial"/>
              </a:rPr>
              <a:t>2.</a:t>
            </a:r>
            <a:r>
              <a:rPr lang="en-IN" sz="1700" dirty="0"/>
              <a:t>Hence, green pixels carry majority information about luminance, texture and structural details.</a:t>
            </a:r>
            <a:endParaRPr sz="1700" dirty="0"/>
          </a:p>
          <a:p>
            <a:pPr marL="12700" lvl="0" indent="0" algn="l" rtl="0">
              <a:spcBef>
                <a:spcPts val="500"/>
              </a:spcBef>
              <a:spcAft>
                <a:spcPts val="0"/>
              </a:spcAft>
              <a:buClr>
                <a:schemeClr val="dk1"/>
              </a:buClr>
              <a:buSzPts val="1100"/>
              <a:buNone/>
            </a:pPr>
            <a:r>
              <a:rPr lang="en-IN" sz="1700" dirty="0">
                <a:latin typeface="Arial"/>
                <a:ea typeface="Arial"/>
                <a:cs typeface="Arial"/>
                <a:sym typeface="Arial"/>
              </a:rPr>
              <a:t>3.</a:t>
            </a:r>
            <a:r>
              <a:rPr lang="en-IN" sz="1700" dirty="0"/>
              <a:t>During reconstruction, AI models find it difficult to reconstruct those authentic, physical details. </a:t>
            </a:r>
            <a:endParaRPr sz="1700" dirty="0"/>
          </a:p>
          <a:p>
            <a:pPr marL="12700" lvl="0" indent="0" algn="l" rtl="0">
              <a:spcBef>
                <a:spcPts val="500"/>
              </a:spcBef>
              <a:spcAft>
                <a:spcPts val="0"/>
              </a:spcAft>
              <a:buClr>
                <a:schemeClr val="dk1"/>
              </a:buClr>
              <a:buSzPts val="1100"/>
              <a:buNone/>
            </a:pPr>
            <a:r>
              <a:rPr lang="en-IN" sz="1700" dirty="0">
                <a:latin typeface="Arial"/>
                <a:ea typeface="Arial"/>
                <a:cs typeface="Arial"/>
                <a:sym typeface="Arial"/>
              </a:rPr>
              <a:t>4.</a:t>
            </a:r>
            <a:r>
              <a:rPr lang="en-IN" sz="1700" dirty="0"/>
              <a:t>However, green channel removed in the AI generated images can be easily filled back using it’s mathematical formulation.</a:t>
            </a:r>
            <a:endParaRPr sz="1700" dirty="0"/>
          </a:p>
          <a:p>
            <a:pPr marL="139700" lvl="0" indent="0" algn="l" rtl="0">
              <a:spcBef>
                <a:spcPts val="0"/>
              </a:spcBef>
              <a:spcAft>
                <a:spcPts val="0"/>
              </a:spcAft>
              <a:buClr>
                <a:schemeClr val="dk1"/>
              </a:buClr>
              <a:buSzPts val="2200"/>
              <a:buFont typeface="Arial"/>
              <a:buNone/>
            </a:pPr>
            <a:endParaRPr sz="2200" dirty="0"/>
          </a:p>
          <a:p>
            <a:pPr marL="0" lvl="0" indent="0" algn="l" rtl="0">
              <a:lnSpc>
                <a:spcPct val="115000"/>
              </a:lnSpc>
              <a:spcBef>
                <a:spcPts val="0"/>
              </a:spcBef>
              <a:spcAft>
                <a:spcPts val="0"/>
              </a:spcAft>
              <a:buClr>
                <a:schemeClr val="dk1"/>
              </a:buClr>
              <a:buSzPts val="1100"/>
              <a:buNone/>
            </a:pPr>
            <a:r>
              <a:rPr lang="en-IN" sz="1800" dirty="0"/>
              <a:t>Hybrid Spectral and Semantic Cues</a:t>
            </a:r>
            <a:endParaRPr sz="1800" dirty="0"/>
          </a:p>
          <a:p>
            <a:pPr marL="12700" lvl="0" indent="0" algn="l" rtl="0">
              <a:lnSpc>
                <a:spcPct val="115000"/>
              </a:lnSpc>
              <a:spcBef>
                <a:spcPts val="0"/>
              </a:spcBef>
              <a:spcAft>
                <a:spcPts val="0"/>
              </a:spcAft>
              <a:buClr>
                <a:schemeClr val="dk1"/>
              </a:buClr>
              <a:buSzPts val="1100"/>
              <a:buNone/>
            </a:pPr>
            <a:r>
              <a:rPr lang="en-IN" sz="1800" dirty="0">
                <a:latin typeface="Arial"/>
                <a:ea typeface="Arial"/>
                <a:cs typeface="Arial"/>
                <a:sym typeface="Arial"/>
              </a:rPr>
              <a:t>1.</a:t>
            </a:r>
            <a:r>
              <a:rPr lang="en-IN" sz="1800" dirty="0"/>
              <a:t>Spectral Features: Uses FFT to notice the subtle, repetitive mathematical fingerprints in frequency domain normal cameras don’t make.</a:t>
            </a:r>
            <a:endParaRPr sz="1800" dirty="0"/>
          </a:p>
          <a:p>
            <a:pPr marL="12700" lvl="0" indent="0" algn="l" rtl="0">
              <a:lnSpc>
                <a:spcPct val="115000"/>
              </a:lnSpc>
              <a:spcBef>
                <a:spcPts val="0"/>
              </a:spcBef>
              <a:spcAft>
                <a:spcPts val="0"/>
              </a:spcAft>
              <a:buClr>
                <a:schemeClr val="dk1"/>
              </a:buClr>
              <a:buSzPts val="1100"/>
              <a:buNone/>
            </a:pPr>
            <a:r>
              <a:rPr lang="en-IN" sz="1800" dirty="0">
                <a:latin typeface="Arial"/>
                <a:ea typeface="Arial"/>
                <a:cs typeface="Arial"/>
                <a:sym typeface="Arial"/>
              </a:rPr>
              <a:t>2.</a:t>
            </a:r>
            <a:r>
              <a:rPr lang="en-IN" sz="1800" dirty="0"/>
              <a:t>Semantic Features: AI models still make semantic mistakes, even if it has the ability to hide the technical fingerprints. </a:t>
            </a:r>
            <a:endParaRPr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8"/>
        <p:cNvGrpSpPr/>
        <p:nvPr/>
      </p:nvGrpSpPr>
      <p:grpSpPr>
        <a:xfrm>
          <a:off x="0" y="0"/>
          <a:ext cx="0" cy="0"/>
          <a:chOff x="0" y="0"/>
          <a:chExt cx="0" cy="0"/>
        </a:xfrm>
      </p:grpSpPr>
      <p:sp>
        <p:nvSpPr>
          <p:cNvPr id="169" name="Google Shape;169;p12"/>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0" name="Google Shape;170;p12"/>
          <p:cNvSpPr txBox="1">
            <a:spLocks noGrp="1"/>
          </p:cNvSpPr>
          <p:nvPr>
            <p:ph type="title"/>
          </p:nvPr>
        </p:nvSpPr>
        <p:spPr>
          <a:xfrm>
            <a:off x="890338" y="640080"/>
            <a:ext cx="3734014" cy="356616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400"/>
              <a:buFont typeface="Calibri"/>
              <a:buNone/>
            </a:pPr>
            <a:r>
              <a:rPr lang="en-IN" sz="5400"/>
              <a:t>Thank You </a:t>
            </a:r>
            <a:endParaRPr/>
          </a:p>
        </p:txBody>
      </p:sp>
      <p:sp>
        <p:nvSpPr>
          <p:cNvPr id="171" name="Google Shape;171;p12"/>
          <p:cNvSpPr/>
          <p:nvPr/>
        </p:nvSpPr>
        <p:spPr>
          <a:xfrm>
            <a:off x="890338" y="4409267"/>
            <a:ext cx="3474720" cy="18288"/>
          </a:xfrm>
          <a:custGeom>
            <a:avLst/>
            <a:gdLst/>
            <a:ahLst/>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72" name="Google Shape;172;p12" descr="Aerial view of a highway near the ocean"/>
          <p:cNvPicPr preferRelativeResize="0"/>
          <p:nvPr/>
        </p:nvPicPr>
        <p:blipFill rotWithShape="1">
          <a:blip r:embed="rId3">
            <a:alphaModFix/>
          </a:blip>
          <a:srcRect l="15933" r="8838"/>
          <a:stretch/>
        </p:blipFill>
        <p:spPr>
          <a:xfrm>
            <a:off x="5313225" y="0"/>
            <a:ext cx="6878775" cy="6857990"/>
          </a:xfrm>
          <a:custGeom>
            <a:avLst/>
            <a:gdLst/>
            <a:ahLst/>
            <a:cxnLst/>
            <a:rect l="l" t="t" r="r" b="b"/>
            <a:pathLst>
              <a:path w="6878775" h="6858000" extrusionOk="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Tree>
  </p:cSld>
  <p:clrMapOvr>
    <a:masterClrMapping/>
  </p:clrMapOvr>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1031</Words>
  <Application>Microsoft Office PowerPoint</Application>
  <PresentationFormat>Widescreen</PresentationFormat>
  <Paragraphs>84</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2013 - 2022 Theme</vt:lpstr>
      <vt:lpstr>Robust AI Image Generation in the Wild</vt:lpstr>
      <vt:lpstr>Evolution of Image Generation</vt:lpstr>
      <vt:lpstr>Evolution of Image Generation (contd.)</vt:lpstr>
      <vt:lpstr>Risks and Societal Impact </vt:lpstr>
      <vt:lpstr>Problem Statement – NTIRE 2026 </vt:lpstr>
      <vt:lpstr>Problems with AI Detection</vt:lpstr>
      <vt:lpstr>Dataset</vt:lpstr>
      <vt:lpstr>Evaluation Metrics</vt:lpstr>
      <vt:lpstr>Literature Review</vt:lpstr>
      <vt:lpstr>Literature Review - Cont’d</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Sharan K</dc:creator>
  <cp:lastModifiedBy>Sharan K</cp:lastModifiedBy>
  <cp:revision>1</cp:revision>
  <dcterms:created xsi:type="dcterms:W3CDTF">2026-01-27T04:36:09Z</dcterms:created>
  <dcterms:modified xsi:type="dcterms:W3CDTF">2026-01-29T05:01:21Z</dcterms:modified>
</cp:coreProperties>
</file>